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shell">
            <a:extLst>
              <a:ext uri="{FF2B5EF4-FFF2-40B4-BE49-F238E27FC236}">
                <a16:creationId xmlns:a16="http://schemas.microsoft.com/office/drawing/2014/main" id="{03E80441-455A-47EB-AC38-21D994698157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11125200" cy="5943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" name="title-panel">
            <a:extLst>
              <a:ext uri="{FF2B5EF4-FFF2-40B4-BE49-F238E27FC236}">
                <a16:creationId xmlns:a16="http://schemas.microsoft.com/office/drawing/2014/main" id="{E0E946E4-44D4-4476-A28E-3865F7D422B6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4857750" cy="5943600"/>
          </a:xfrm>
          <a:prstGeom prst="roundRect">
            <a:avLst>
              <a:gd name="adj" fmla="val 4706"/>
            </a:avLst>
          </a:prstGeom>
          <a:solidFill>
            <a:srgbClr val="17191D"/>
          </a:solidFill>
          <a:ln w="9525">
            <a:solidFill>
              <a:srgbClr val="1719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3" name="logo-box">
            <a:extLst>
              <a:ext uri="{FF2B5EF4-FFF2-40B4-BE49-F238E27FC236}">
                <a16:creationId xmlns:a16="http://schemas.microsoft.com/office/drawing/2014/main" id="{DAE6F87B-FBAA-4E90-AEEF-833C438F0CFB}"/>
              </a:ext>
            </a:extLst>
          </p:cNvPr>
          <p:cNvSpPr>
            <a:spLocks noGrp="1"/>
          </p:cNvSpPr>
          <p:nvPr/>
        </p:nvSpPr>
        <p:spPr>
          <a:xfrm>
            <a:off x="876300" y="857250"/>
            <a:ext cx="552450" cy="552450"/>
          </a:xfrm>
          <a:prstGeom prst="roundRect">
            <a:avLst>
              <a:gd name="adj" fmla="val 27586"/>
            </a:avLst>
          </a:prstGeom>
          <a:solidFill>
            <a:srgbClr val="E60000"/>
          </a:solidFill>
          <a:ln w="9525">
            <a:solidFill>
              <a:srgbClr val="E6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logo-letter">
            <a:extLst>
              <a:ext uri="{FF2B5EF4-FFF2-40B4-BE49-F238E27FC236}">
                <a16:creationId xmlns:a16="http://schemas.microsoft.com/office/drawing/2014/main" id="{3E122685-9E35-43CD-AC0E-58FE3A53C34B}"/>
              </a:ext>
            </a:extLst>
          </p:cNvPr>
          <p:cNvSpPr>
            <a:spLocks noGrp="1"/>
          </p:cNvSpPr>
          <p:nvPr/>
        </p:nvSpPr>
        <p:spPr>
          <a:xfrm>
            <a:off x="1009650" y="9525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FF9741D2-8024-4B8A-845E-9D04D9D8C09B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FF8A8A"/>
                </a:solidFill>
              </a:defRPr>
            </a:pPr>
            <a:r>
              <a:rPr lang="en-GB" sz="1050" b="1" i="0" dirty="0">
                <a:solidFill>
                  <a:srgbClr val="FF8A8A"/>
                </a:solidFill>
              </a:rPr>
              <a:t>VODAFONE EGYPT AI INTERNSHIP</a:t>
            </a:r>
          </a:p>
        </p:txBody>
      </p:sp>
      <p:sp>
        <p:nvSpPr>
          <p:cNvPr id="6" name="hero-title">
            <a:extLst>
              <a:ext uri="{FF2B5EF4-FFF2-40B4-BE49-F238E27FC236}">
                <a16:creationId xmlns:a16="http://schemas.microsoft.com/office/drawing/2014/main" id="{DF45B61B-0032-4E7C-90D4-C6F827AA78A7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810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DocuAgent turns invoices and receipts into structured business data</a:t>
            </a:r>
          </a:p>
        </p:txBody>
      </p:sp>
      <p:sp>
        <p:nvSpPr>
          <p:cNvPr id="7" name="hero-copy">
            <a:extLst>
              <a:ext uri="{FF2B5EF4-FFF2-40B4-BE49-F238E27FC236}">
                <a16:creationId xmlns:a16="http://schemas.microsoft.com/office/drawing/2014/main" id="{DBC0EC43-6FE7-4002-8998-813E8631E2DA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3524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8CCD3"/>
                </a:solidFill>
              </a:defRPr>
            </a:pPr>
            <a:r>
              <a:rPr sz="1500" b="0" i="0">
                <a:solidFill>
                  <a:srgbClr val="C8CCD3"/>
                </a:solidFill>
              </a:rPr>
              <a:t>Business-first AI document workflow with OCR, validation, human review, searchable storage, and analytics-ready outputs.</a:t>
            </a:r>
          </a:p>
        </p:txBody>
      </p:sp>
      <p:sp>
        <p:nvSpPr>
          <p:cNvPr id="10" name="bullet-dot-0">
            <a:extLst>
              <a:ext uri="{FF2B5EF4-FFF2-40B4-BE49-F238E27FC236}">
                <a16:creationId xmlns:a16="http://schemas.microsoft.com/office/drawing/2014/main" id="{711643D0-BB1C-411C-8D8E-4CE88770A528}"/>
              </a:ext>
            </a:extLst>
          </p:cNvPr>
          <p:cNvSpPr>
            <a:spLocks noGrp="1"/>
          </p:cNvSpPr>
          <p:nvPr/>
        </p:nvSpPr>
        <p:spPr>
          <a:xfrm>
            <a:off x="6019800" y="2362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bullet-text-0">
            <a:extLst>
              <a:ext uri="{FF2B5EF4-FFF2-40B4-BE49-F238E27FC236}">
                <a16:creationId xmlns:a16="http://schemas.microsoft.com/office/drawing/2014/main" id="{64071F4A-3D8A-4C9D-91E4-47D6C79E7041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rgbClr val="15171B"/>
                </a:solidFill>
              </a:rPr>
              <a:t>Business problem: manual document handling is slow and error-prone.</a:t>
            </a:r>
          </a:p>
        </p:txBody>
      </p:sp>
      <p:sp>
        <p:nvSpPr>
          <p:cNvPr id="12" name="bullet-dot-1">
            <a:extLst>
              <a:ext uri="{FF2B5EF4-FFF2-40B4-BE49-F238E27FC236}">
                <a16:creationId xmlns:a16="http://schemas.microsoft.com/office/drawing/2014/main" id="{99F65EB8-CD58-4EEE-BE6C-8A5BCB387460}"/>
              </a:ext>
            </a:extLst>
          </p:cNvPr>
          <p:cNvSpPr>
            <a:spLocks noGrp="1"/>
          </p:cNvSpPr>
          <p:nvPr/>
        </p:nvSpPr>
        <p:spPr>
          <a:xfrm>
            <a:off x="601980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bullet-text-1">
            <a:extLst>
              <a:ext uri="{FF2B5EF4-FFF2-40B4-BE49-F238E27FC236}">
                <a16:creationId xmlns:a16="http://schemas.microsoft.com/office/drawing/2014/main" id="{4E255E58-3098-43D0-B8FA-4F2884D91E1B}"/>
              </a:ext>
            </a:extLst>
          </p:cNvPr>
          <p:cNvSpPr>
            <a:spLocks noGrp="1"/>
          </p:cNvSpPr>
          <p:nvPr/>
        </p:nvSpPr>
        <p:spPr>
          <a:xfrm>
            <a:off x="6286500" y="2971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b="0" i="0" dirty="0">
                <a:solidFill>
                  <a:srgbClr val="15171B"/>
                </a:solidFill>
              </a:rPr>
              <a:t>Technical solution: AI-assisted extraction plus deterministic validation.</a:t>
            </a:r>
          </a:p>
        </p:txBody>
      </p:sp>
      <p:sp>
        <p:nvSpPr>
          <p:cNvPr id="14" name="bullet-dot-2">
            <a:extLst>
              <a:ext uri="{FF2B5EF4-FFF2-40B4-BE49-F238E27FC236}">
                <a16:creationId xmlns:a16="http://schemas.microsoft.com/office/drawing/2014/main" id="{121D662A-D233-4B13-98BE-2D9ED1423F20}"/>
              </a:ext>
            </a:extLst>
          </p:cNvPr>
          <p:cNvSpPr>
            <a:spLocks noGrp="1"/>
          </p:cNvSpPr>
          <p:nvPr/>
        </p:nvSpPr>
        <p:spPr>
          <a:xfrm>
            <a:off x="6019800" y="3733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bullet-text-2">
            <a:extLst>
              <a:ext uri="{FF2B5EF4-FFF2-40B4-BE49-F238E27FC236}">
                <a16:creationId xmlns:a16="http://schemas.microsoft.com/office/drawing/2014/main" id="{E6404AE6-3D2E-421C-96EC-300CF1DEB13D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b="0" i="0" dirty="0">
                <a:solidFill>
                  <a:srgbClr val="15171B"/>
                </a:solidFill>
              </a:rPr>
              <a:t>Business outcome: faster processing, cleaner records, better visibility.</a:t>
            </a:r>
          </a:p>
        </p:txBody>
      </p:sp>
      <p:sp>
        <p:nvSpPr>
          <p:cNvPr id="17" name="presenter-note">
            <a:extLst>
              <a:ext uri="{FF2B5EF4-FFF2-40B4-BE49-F238E27FC236}">
                <a16:creationId xmlns:a16="http://schemas.microsoft.com/office/drawing/2014/main" id="{1BCC171E-9F94-4827-B66A-A992C320D9C8}"/>
              </a:ext>
            </a:extLst>
          </p:cNvPr>
          <p:cNvSpPr>
            <a:spLocks noGrp="1"/>
          </p:cNvSpPr>
          <p:nvPr/>
        </p:nvSpPr>
        <p:spPr>
          <a:xfrm>
            <a:off x="6305550" y="5029200"/>
            <a:ext cx="419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B"/>
                </a:solidFill>
              </a:defRPr>
            </a:pPr>
            <a:endParaRPr sz="1650" b="1" i="0" dirty="0">
              <a:solidFill>
                <a:srgbClr val="1517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6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nual document processing creates avoidable business friction-title">
            <a:extLst>
              <a:ext uri="{FF2B5EF4-FFF2-40B4-BE49-F238E27FC236}">
                <a16:creationId xmlns:a16="http://schemas.microsoft.com/office/drawing/2014/main" id="{0AF71513-C01E-4572-8A9B-95FB5405ED6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>
                <a:solidFill>
                  <a:srgbClr val="15171B"/>
                </a:solidFill>
              </a:rPr>
              <a:t>Manual document processing creates avoidable business friction</a:t>
            </a:r>
          </a:p>
        </p:txBody>
      </p:sp>
      <p:sp>
        <p:nvSpPr>
          <p:cNvPr id="3" name="problem-panel">
            <a:extLst>
              <a:ext uri="{FF2B5EF4-FFF2-40B4-BE49-F238E27FC236}">
                <a16:creationId xmlns:a16="http://schemas.microsoft.com/office/drawing/2014/main" id="{4165706A-A3DB-4542-8615-52D8B1BF8C6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048250" cy="4095750"/>
          </a:xfrm>
          <a:prstGeom prst="roundRect">
            <a:avLst>
              <a:gd name="adj" fmla="val 5581"/>
            </a:avLst>
          </a:prstGeom>
          <a:solidFill>
            <a:srgbClr val="17191D"/>
          </a:solidFill>
          <a:ln w="9525">
            <a:solidFill>
              <a:srgbClr val="1719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BUSINESS PROBLEM-label">
            <a:extLst>
              <a:ext uri="{FF2B5EF4-FFF2-40B4-BE49-F238E27FC236}">
                <a16:creationId xmlns:a16="http://schemas.microsoft.com/office/drawing/2014/main" id="{AF3A3CA3-D2D5-444A-8228-5702B8D3BEBB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E60000"/>
                </a:solidFill>
              </a:defRPr>
            </a:pPr>
            <a:r>
              <a:rPr sz="975" b="1" i="0">
                <a:solidFill>
                  <a:srgbClr val="E60000"/>
                </a:solidFill>
              </a:rPr>
              <a:t>BUSINESS PROBLEM</a:t>
            </a:r>
          </a:p>
        </p:txBody>
      </p:sp>
      <p:sp>
        <p:nvSpPr>
          <p:cNvPr id="5" name="bullet-dot-0">
            <a:extLst>
              <a:ext uri="{FF2B5EF4-FFF2-40B4-BE49-F238E27FC236}">
                <a16:creationId xmlns:a16="http://schemas.microsoft.com/office/drawing/2014/main" id="{87B23ED0-2EC0-4B76-92BA-C51CEA1B216E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ullet-text-0">
            <a:extLst>
              <a:ext uri="{FF2B5EF4-FFF2-40B4-BE49-F238E27FC236}">
                <a16:creationId xmlns:a16="http://schemas.microsoft.com/office/drawing/2014/main" id="{DC2199C2-2F25-4A9C-9641-1E7404DA7581}"/>
              </a:ext>
            </a:extLst>
          </p:cNvPr>
          <p:cNvSpPr>
            <a:spLocks noGrp="1"/>
          </p:cNvSpPr>
          <p:nvPr/>
        </p:nvSpPr>
        <p:spPr>
          <a:xfrm>
            <a:off x="1257300" y="24003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Invoices and receipts arrive as messy images instead of clean records.</a:t>
            </a:r>
          </a:p>
        </p:txBody>
      </p:sp>
      <p:sp>
        <p:nvSpPr>
          <p:cNvPr id="7" name="bullet-dot-1">
            <a:extLst>
              <a:ext uri="{FF2B5EF4-FFF2-40B4-BE49-F238E27FC236}">
                <a16:creationId xmlns:a16="http://schemas.microsoft.com/office/drawing/2014/main" id="{484D8D34-63CE-4E1C-BC1F-6C44530A23E2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bullet-text-1">
            <a:extLst>
              <a:ext uri="{FF2B5EF4-FFF2-40B4-BE49-F238E27FC236}">
                <a16:creationId xmlns:a16="http://schemas.microsoft.com/office/drawing/2014/main" id="{9A99E3E7-B107-4D70-93A7-11EABE733A30}"/>
              </a:ext>
            </a:extLst>
          </p:cNvPr>
          <p:cNvSpPr>
            <a:spLocks noGrp="1"/>
          </p:cNvSpPr>
          <p:nvPr/>
        </p:nvSpPr>
        <p:spPr>
          <a:xfrm>
            <a:off x="1257300" y="31432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Manual entry and checking cost time and introduce avoidable mistakes.</a:t>
            </a:r>
          </a:p>
        </p:txBody>
      </p:sp>
      <p:sp>
        <p:nvSpPr>
          <p:cNvPr id="9" name="bullet-dot-2">
            <a:extLst>
              <a:ext uri="{FF2B5EF4-FFF2-40B4-BE49-F238E27FC236}">
                <a16:creationId xmlns:a16="http://schemas.microsoft.com/office/drawing/2014/main" id="{0F7F0A92-A957-4DCD-A96D-5DBFEF400D7D}"/>
              </a:ext>
            </a:extLst>
          </p:cNvPr>
          <p:cNvSpPr>
            <a:spLocks noGrp="1"/>
          </p:cNvSpPr>
          <p:nvPr/>
        </p:nvSpPr>
        <p:spPr>
          <a:xfrm>
            <a:off x="990600" y="3962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bullet-text-2">
            <a:extLst>
              <a:ext uri="{FF2B5EF4-FFF2-40B4-BE49-F238E27FC236}">
                <a16:creationId xmlns:a16="http://schemas.microsoft.com/office/drawing/2014/main" id="{B48BE520-2162-4066-A199-AB9E31DE534F}"/>
              </a:ext>
            </a:extLst>
          </p:cNvPr>
          <p:cNvSpPr>
            <a:spLocks noGrp="1"/>
          </p:cNvSpPr>
          <p:nvPr/>
        </p:nvSpPr>
        <p:spPr>
          <a:xfrm>
            <a:off x="1257300" y="38862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Approvals, rejection reasons, and document status are hard to track consistently.</a:t>
            </a:r>
          </a:p>
        </p:txBody>
      </p:sp>
      <p:sp>
        <p:nvSpPr>
          <p:cNvPr id="11" name="bullet-dot-3">
            <a:extLst>
              <a:ext uri="{FF2B5EF4-FFF2-40B4-BE49-F238E27FC236}">
                <a16:creationId xmlns:a16="http://schemas.microsoft.com/office/drawing/2014/main" id="{CD2DCAC0-0350-4FC5-BFB3-5F618F7769A9}"/>
              </a:ext>
            </a:extLst>
          </p:cNvPr>
          <p:cNvSpPr>
            <a:spLocks noGrp="1"/>
          </p:cNvSpPr>
          <p:nvPr/>
        </p:nvSpPr>
        <p:spPr>
          <a:xfrm>
            <a:off x="990600" y="4876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bullet-text-3">
            <a:extLst>
              <a:ext uri="{FF2B5EF4-FFF2-40B4-BE49-F238E27FC236}">
                <a16:creationId xmlns:a16="http://schemas.microsoft.com/office/drawing/2014/main" id="{82C9F5AF-F39B-4378-8B2E-E51D9927D3C6}"/>
              </a:ext>
            </a:extLst>
          </p:cNvPr>
          <p:cNvSpPr>
            <a:spLocks noGrp="1"/>
          </p:cNvSpPr>
          <p:nvPr/>
        </p:nvSpPr>
        <p:spPr>
          <a:xfrm>
            <a:off x="1209675" y="47434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Unstructured files make later reporting and business questions much harder.</a:t>
            </a:r>
          </a:p>
        </p:txBody>
      </p:sp>
      <p:sp>
        <p:nvSpPr>
          <p:cNvPr id="13" name="why-it-matters">
            <a:extLst>
              <a:ext uri="{FF2B5EF4-FFF2-40B4-BE49-F238E27FC236}">
                <a16:creationId xmlns:a16="http://schemas.microsoft.com/office/drawing/2014/main" id="{A6BE8A6D-025D-4EE8-B247-7EC1204728BA}"/>
              </a:ext>
            </a:extLst>
          </p:cNvPr>
          <p:cNvSpPr>
            <a:spLocks noGrp="1"/>
          </p:cNvSpPr>
          <p:nvPr/>
        </p:nvSpPr>
        <p:spPr>
          <a:xfrm>
            <a:off x="6153150" y="1714500"/>
            <a:ext cx="53530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4" name="WHY IT MATTERS-label">
            <a:extLst>
              <a:ext uri="{FF2B5EF4-FFF2-40B4-BE49-F238E27FC236}">
                <a16:creationId xmlns:a16="http://schemas.microsoft.com/office/drawing/2014/main" id="{8CBFAAFC-3870-4A3C-A653-91E14EB42573}"/>
              </a:ext>
            </a:extLst>
          </p:cNvPr>
          <p:cNvSpPr>
            <a:spLocks noGrp="1"/>
          </p:cNvSpPr>
          <p:nvPr/>
        </p:nvSpPr>
        <p:spPr>
          <a:xfrm>
            <a:off x="6457950" y="2038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E60000"/>
                </a:solidFill>
              </a:defRPr>
            </a:pPr>
            <a:r>
              <a:rPr sz="975" b="1" i="0">
                <a:solidFill>
                  <a:srgbClr val="E60000"/>
                </a:solidFill>
              </a:rPr>
              <a:t>WHY IT MATTERS</a:t>
            </a:r>
          </a:p>
        </p:txBody>
      </p:sp>
      <p:sp>
        <p:nvSpPr>
          <p:cNvPr id="15" name="why-copy">
            <a:extLst>
              <a:ext uri="{FF2B5EF4-FFF2-40B4-BE49-F238E27FC236}">
                <a16:creationId xmlns:a16="http://schemas.microsoft.com/office/drawing/2014/main" id="{3CA8B550-F762-4C10-A93C-B1A07D83DC20}"/>
              </a:ext>
            </a:extLst>
          </p:cNvPr>
          <p:cNvSpPr>
            <a:spLocks noGrp="1"/>
          </p:cNvSpPr>
          <p:nvPr/>
        </p:nvSpPr>
        <p:spPr>
          <a:xfrm>
            <a:off x="6457950" y="2305050"/>
            <a:ext cx="4686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 dirty="0">
                <a:solidFill>
                  <a:srgbClr val="15171B"/>
                </a:solidFill>
              </a:rPr>
              <a:t>When document data is delayed or unreliable, finance and operations lose speed, confidence, and visibility.</a:t>
            </a:r>
          </a:p>
        </p:txBody>
      </p:sp>
      <p:sp>
        <p:nvSpPr>
          <p:cNvPr id="16" name="risk-1">
            <a:extLst>
              <a:ext uri="{FF2B5EF4-FFF2-40B4-BE49-F238E27FC236}">
                <a16:creationId xmlns:a16="http://schemas.microsoft.com/office/drawing/2014/main" id="{77088177-370F-4FB1-BA6D-867FAF9AE400}"/>
              </a:ext>
            </a:extLst>
          </p:cNvPr>
          <p:cNvSpPr>
            <a:spLocks noGrp="1"/>
          </p:cNvSpPr>
          <p:nvPr/>
        </p:nvSpPr>
        <p:spPr>
          <a:xfrm>
            <a:off x="6153150" y="394335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2F1"/>
          </a:solidFill>
          <a:ln w="9525">
            <a:solidFill>
              <a:srgbClr val="FFF2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7" name="risk-1-title">
            <a:extLst>
              <a:ext uri="{FF2B5EF4-FFF2-40B4-BE49-F238E27FC236}">
                <a16:creationId xmlns:a16="http://schemas.microsoft.com/office/drawing/2014/main" id="{CC0736C0-0838-4299-AB24-1BECC2938933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A92B22"/>
                </a:solidFill>
              </a:defRPr>
            </a:pPr>
            <a:r>
              <a:rPr sz="1950" b="1" i="0">
                <a:solidFill>
                  <a:srgbClr val="A92B22"/>
                </a:solidFill>
              </a:rPr>
              <a:t>Delays</a:t>
            </a:r>
          </a:p>
        </p:txBody>
      </p:sp>
      <p:sp>
        <p:nvSpPr>
          <p:cNvPr id="18" name="risk-1-copy">
            <a:extLst>
              <a:ext uri="{FF2B5EF4-FFF2-40B4-BE49-F238E27FC236}">
                <a16:creationId xmlns:a16="http://schemas.microsoft.com/office/drawing/2014/main" id="{DE0A8C7D-3EE7-4CD9-9CD4-F22F1C392B0F}"/>
              </a:ext>
            </a:extLst>
          </p:cNvPr>
          <p:cNvSpPr>
            <a:spLocks noGrp="1"/>
          </p:cNvSpPr>
          <p:nvPr/>
        </p:nvSpPr>
        <p:spPr>
          <a:xfrm>
            <a:off x="6343650" y="472440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15171B"/>
                </a:solidFill>
              </a:defRPr>
            </a:pPr>
            <a:r>
              <a:rPr sz="1350" b="0" i="0">
                <a:solidFill>
                  <a:srgbClr val="15171B"/>
                </a:solidFill>
              </a:rPr>
              <a:t>Longer review and processing cycles</a:t>
            </a:r>
          </a:p>
        </p:txBody>
      </p:sp>
      <p:sp>
        <p:nvSpPr>
          <p:cNvPr id="19" name="risk-2">
            <a:extLst>
              <a:ext uri="{FF2B5EF4-FFF2-40B4-BE49-F238E27FC236}">
                <a16:creationId xmlns:a16="http://schemas.microsoft.com/office/drawing/2014/main" id="{4C747305-D0F4-404C-90A4-D81B8A27DF76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FFF9EB"/>
          </a:solidFill>
          <a:ln w="9525">
            <a:solidFill>
              <a:srgbClr val="FFF9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isk-2-title">
            <a:extLst>
              <a:ext uri="{FF2B5EF4-FFF2-40B4-BE49-F238E27FC236}">
                <a16:creationId xmlns:a16="http://schemas.microsoft.com/office/drawing/2014/main" id="{73CA1D47-A46F-468C-8860-90F951438B87}"/>
              </a:ext>
            </a:extLst>
          </p:cNvPr>
          <p:cNvSpPr>
            <a:spLocks noGrp="1"/>
          </p:cNvSpPr>
          <p:nvPr/>
        </p:nvSpPr>
        <p:spPr>
          <a:xfrm>
            <a:off x="8229600" y="434340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845508"/>
                </a:solidFill>
              </a:defRPr>
            </a:pPr>
            <a:r>
              <a:rPr sz="1950" b="1" i="0">
                <a:solidFill>
                  <a:srgbClr val="845508"/>
                </a:solidFill>
              </a:rPr>
              <a:t>Errors</a:t>
            </a:r>
          </a:p>
        </p:txBody>
      </p:sp>
      <p:sp>
        <p:nvSpPr>
          <p:cNvPr id="21" name="risk-2-copy">
            <a:extLst>
              <a:ext uri="{FF2B5EF4-FFF2-40B4-BE49-F238E27FC236}">
                <a16:creationId xmlns:a16="http://schemas.microsoft.com/office/drawing/2014/main" id="{031B85EB-4D2F-4F6A-B2FB-C7D01DEFAB6F}"/>
              </a:ext>
            </a:extLst>
          </p:cNvPr>
          <p:cNvSpPr>
            <a:spLocks noGrp="1"/>
          </p:cNvSpPr>
          <p:nvPr/>
        </p:nvSpPr>
        <p:spPr>
          <a:xfrm>
            <a:off x="8191500" y="47244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15171B"/>
                </a:solidFill>
              </a:defRPr>
            </a:pPr>
            <a:r>
              <a:rPr sz="1350" b="0" i="0">
                <a:solidFill>
                  <a:srgbClr val="15171B"/>
                </a:solidFill>
              </a:rPr>
              <a:t>Bad totals and incomplete fields</a:t>
            </a:r>
          </a:p>
        </p:txBody>
      </p:sp>
      <p:sp>
        <p:nvSpPr>
          <p:cNvPr id="22" name="risk-3">
            <a:extLst>
              <a:ext uri="{FF2B5EF4-FFF2-40B4-BE49-F238E27FC236}">
                <a16:creationId xmlns:a16="http://schemas.microsoft.com/office/drawing/2014/main" id="{4B56A466-59A6-41E2-B432-AE89A707D125}"/>
              </a:ext>
            </a:extLst>
          </p:cNvPr>
          <p:cNvSpPr>
            <a:spLocks noGrp="1"/>
          </p:cNvSpPr>
          <p:nvPr/>
        </p:nvSpPr>
        <p:spPr>
          <a:xfrm>
            <a:off x="9886950" y="3943350"/>
            <a:ext cx="1619250" cy="1562100"/>
          </a:xfrm>
          <a:prstGeom prst="roundRect">
            <a:avLst>
              <a:gd name="adj" fmla="val 9756"/>
            </a:avLst>
          </a:prstGeom>
          <a:solidFill>
            <a:srgbClr val="EFFBF4"/>
          </a:solidFill>
          <a:ln w="9525">
            <a:solidFill>
              <a:srgbClr val="EFFB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3" name="risk-3-title">
            <a:extLst>
              <a:ext uri="{FF2B5EF4-FFF2-40B4-BE49-F238E27FC236}">
                <a16:creationId xmlns:a16="http://schemas.microsoft.com/office/drawing/2014/main" id="{90948BE8-7F10-46C4-8C29-98EE2DC193B6}"/>
              </a:ext>
            </a:extLst>
          </p:cNvPr>
          <p:cNvSpPr>
            <a:spLocks noGrp="1"/>
          </p:cNvSpPr>
          <p:nvPr/>
        </p:nvSpPr>
        <p:spPr>
          <a:xfrm>
            <a:off x="9944100" y="43434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126B40"/>
                </a:solidFill>
              </a:defRPr>
            </a:pPr>
            <a:r>
              <a:rPr sz="1950" b="1" i="0" dirty="0">
                <a:solidFill>
                  <a:srgbClr val="126B40"/>
                </a:solidFill>
              </a:rPr>
              <a:t>Blind </a:t>
            </a:r>
            <a:r>
              <a:rPr lang="en-US" sz="1950" b="1" i="0" dirty="0">
                <a:solidFill>
                  <a:srgbClr val="126B40"/>
                </a:solidFill>
              </a:rPr>
              <a:t>S</a:t>
            </a:r>
            <a:r>
              <a:rPr sz="1950" b="1" i="0" dirty="0">
                <a:solidFill>
                  <a:srgbClr val="126B40"/>
                </a:solidFill>
              </a:rPr>
              <a:t>pots</a:t>
            </a:r>
          </a:p>
        </p:txBody>
      </p:sp>
      <p:sp>
        <p:nvSpPr>
          <p:cNvPr id="24" name="risk-3-copy">
            <a:extLst>
              <a:ext uri="{FF2B5EF4-FFF2-40B4-BE49-F238E27FC236}">
                <a16:creationId xmlns:a16="http://schemas.microsoft.com/office/drawing/2014/main" id="{B042F6DF-C67F-4A66-99D8-437CCBE5698E}"/>
              </a:ext>
            </a:extLst>
          </p:cNvPr>
          <p:cNvSpPr>
            <a:spLocks noGrp="1"/>
          </p:cNvSpPr>
          <p:nvPr/>
        </p:nvSpPr>
        <p:spPr>
          <a:xfrm>
            <a:off x="10058400" y="47244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15171B"/>
                </a:solidFill>
              </a:defRPr>
            </a:pPr>
            <a:r>
              <a:rPr sz="1350" b="0" i="0">
                <a:solidFill>
                  <a:srgbClr val="15171B"/>
                </a:solidFill>
              </a:rPr>
              <a:t>Weak reporting across saved documents</a:t>
            </a:r>
          </a:p>
        </p:txBody>
      </p:sp>
      <p:sp>
        <p:nvSpPr>
          <p:cNvPr id="25" name="footer-left-2">
            <a:extLst>
              <a:ext uri="{FF2B5EF4-FFF2-40B4-BE49-F238E27FC236}">
                <a16:creationId xmlns:a16="http://schemas.microsoft.com/office/drawing/2014/main" id="{2EDC997C-ECCE-40D7-8F69-366DF853019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26" name="footer-right-2">
            <a:extLst>
              <a:ext uri="{FF2B5EF4-FFF2-40B4-BE49-F238E27FC236}">
                <a16:creationId xmlns:a16="http://schemas.microsoft.com/office/drawing/2014/main" id="{E11799C8-60BF-4C5A-A6F7-5FFC51B577F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621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ocuAgent converts raw documents into reviewable business records-title">
            <a:extLst>
              <a:ext uri="{FF2B5EF4-FFF2-40B4-BE49-F238E27FC236}">
                <a16:creationId xmlns:a16="http://schemas.microsoft.com/office/drawing/2014/main" id="{8809A5FB-A9C8-4163-B85E-0E3BAA51658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>
                <a:solidFill>
                  <a:srgbClr val="15171B"/>
                </a:solidFill>
              </a:rPr>
              <a:t>DocuAgent converts raw documents into reviewable business records</a:t>
            </a:r>
          </a:p>
        </p:txBody>
      </p:sp>
      <p:sp>
        <p:nvSpPr>
          <p:cNvPr id="3" name="SOLUTION FLOW-label">
            <a:extLst>
              <a:ext uri="{FF2B5EF4-FFF2-40B4-BE49-F238E27FC236}">
                <a16:creationId xmlns:a16="http://schemas.microsoft.com/office/drawing/2014/main" id="{71EFBB34-07F3-4E68-996B-ACFE27ED395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E60000"/>
                </a:solidFill>
              </a:defRPr>
            </a:pPr>
            <a:r>
              <a:rPr sz="975" b="1" i="0">
                <a:solidFill>
                  <a:srgbClr val="E60000"/>
                </a:solidFill>
              </a:rPr>
              <a:t>SOLUTION FLOW</a:t>
            </a:r>
          </a:p>
        </p:txBody>
      </p:sp>
      <p:sp>
        <p:nvSpPr>
          <p:cNvPr id="4" name="step-1">
            <a:extLst>
              <a:ext uri="{FF2B5EF4-FFF2-40B4-BE49-F238E27FC236}">
                <a16:creationId xmlns:a16="http://schemas.microsoft.com/office/drawing/2014/main" id="{590B26BF-733D-4738-871D-2708BAC0DE2A}"/>
              </a:ext>
            </a:extLst>
          </p:cNvPr>
          <p:cNvSpPr>
            <a:spLocks noGrp="1"/>
          </p:cNvSpPr>
          <p:nvPr/>
        </p:nvSpPr>
        <p:spPr>
          <a:xfrm>
            <a:off x="685800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5" name="step-number-1">
            <a:extLst>
              <a:ext uri="{FF2B5EF4-FFF2-40B4-BE49-F238E27FC236}">
                <a16:creationId xmlns:a16="http://schemas.microsoft.com/office/drawing/2014/main" id="{B09E611E-7E7E-47C8-8FB3-F4999A994321}"/>
              </a:ext>
            </a:extLst>
          </p:cNvPr>
          <p:cNvSpPr>
            <a:spLocks noGrp="1"/>
          </p:cNvSpPr>
          <p:nvPr/>
        </p:nvSpPr>
        <p:spPr>
          <a:xfrm>
            <a:off x="1143000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tep-number-text-1">
            <a:extLst>
              <a:ext uri="{FF2B5EF4-FFF2-40B4-BE49-F238E27FC236}">
                <a16:creationId xmlns:a16="http://schemas.microsoft.com/office/drawing/2014/main" id="{D52E81F7-1FBE-4173-BAB7-F39E3C553F02}"/>
              </a:ext>
            </a:extLst>
          </p:cNvPr>
          <p:cNvSpPr>
            <a:spLocks noGrp="1"/>
          </p:cNvSpPr>
          <p:nvPr/>
        </p:nvSpPr>
        <p:spPr>
          <a:xfrm>
            <a:off x="1238250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copy-1">
            <a:extLst>
              <a:ext uri="{FF2B5EF4-FFF2-40B4-BE49-F238E27FC236}">
                <a16:creationId xmlns:a16="http://schemas.microsoft.com/office/drawing/2014/main" id="{EFB11EEA-DB7A-49D2-9648-8C00B4B58336}"/>
              </a:ext>
            </a:extLst>
          </p:cNvPr>
          <p:cNvSpPr>
            <a:spLocks noGrp="1"/>
          </p:cNvSpPr>
          <p:nvPr/>
        </p:nvSpPr>
        <p:spPr>
          <a:xfrm>
            <a:off x="857250" y="3568215"/>
            <a:ext cx="99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>
                <a:solidFill>
                  <a:srgbClr val="15171B"/>
                </a:solidFill>
              </a:rPr>
              <a:t>Upload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>
                <a:solidFill>
                  <a:srgbClr val="15171B"/>
                </a:solidFill>
              </a:rPr>
              <a:t>invoice / receipt</a:t>
            </a:r>
          </a:p>
        </p:txBody>
      </p:sp>
      <p:sp>
        <p:nvSpPr>
          <p:cNvPr id="8" name="step-arrow-1">
            <a:extLst>
              <a:ext uri="{FF2B5EF4-FFF2-40B4-BE49-F238E27FC236}">
                <a16:creationId xmlns:a16="http://schemas.microsoft.com/office/drawing/2014/main" id="{28DA67FB-E535-49CF-882A-729C8CEF9339}"/>
              </a:ext>
            </a:extLst>
          </p:cNvPr>
          <p:cNvSpPr>
            <a:spLocks noGrp="1"/>
          </p:cNvSpPr>
          <p:nvPr/>
        </p:nvSpPr>
        <p:spPr>
          <a:xfrm>
            <a:off x="2028825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9" name="step-2">
            <a:extLst>
              <a:ext uri="{FF2B5EF4-FFF2-40B4-BE49-F238E27FC236}">
                <a16:creationId xmlns:a16="http://schemas.microsoft.com/office/drawing/2014/main" id="{33AB09BE-7836-483D-81A5-4FE4F4CE436F}"/>
              </a:ext>
            </a:extLst>
          </p:cNvPr>
          <p:cNvSpPr>
            <a:spLocks noGrp="1"/>
          </p:cNvSpPr>
          <p:nvPr/>
        </p:nvSpPr>
        <p:spPr>
          <a:xfrm>
            <a:off x="2257425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0" name="step-number-2">
            <a:extLst>
              <a:ext uri="{FF2B5EF4-FFF2-40B4-BE49-F238E27FC236}">
                <a16:creationId xmlns:a16="http://schemas.microsoft.com/office/drawing/2014/main" id="{66E2F1A1-8509-4FE2-89BC-8B9B23231758}"/>
              </a:ext>
            </a:extLst>
          </p:cNvPr>
          <p:cNvSpPr>
            <a:spLocks noGrp="1"/>
          </p:cNvSpPr>
          <p:nvPr/>
        </p:nvSpPr>
        <p:spPr>
          <a:xfrm>
            <a:off x="2714625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-number-text-2">
            <a:extLst>
              <a:ext uri="{FF2B5EF4-FFF2-40B4-BE49-F238E27FC236}">
                <a16:creationId xmlns:a16="http://schemas.microsoft.com/office/drawing/2014/main" id="{723A17F5-AE40-4825-9C68-2D46826A8CBB}"/>
              </a:ext>
            </a:extLst>
          </p:cNvPr>
          <p:cNvSpPr>
            <a:spLocks noGrp="1"/>
          </p:cNvSpPr>
          <p:nvPr/>
        </p:nvSpPr>
        <p:spPr>
          <a:xfrm>
            <a:off x="2809875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step-copy-2">
            <a:extLst>
              <a:ext uri="{FF2B5EF4-FFF2-40B4-BE49-F238E27FC236}">
                <a16:creationId xmlns:a16="http://schemas.microsoft.com/office/drawing/2014/main" id="{C611336A-41F9-40E0-B767-8733CE20F733}"/>
              </a:ext>
            </a:extLst>
          </p:cNvPr>
          <p:cNvSpPr>
            <a:spLocks noGrp="1"/>
          </p:cNvSpPr>
          <p:nvPr/>
        </p:nvSpPr>
        <p:spPr>
          <a:xfrm>
            <a:off x="2428875" y="3568215"/>
            <a:ext cx="99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OCR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OpenCV + </a:t>
            </a:r>
            <a:r>
              <a:rPr sz="1650" b="1" i="0" dirty="0" err="1">
                <a:solidFill>
                  <a:srgbClr val="15171B"/>
                </a:solidFill>
              </a:rPr>
              <a:t>EasyOCR</a:t>
            </a:r>
            <a:endParaRPr sz="1650" b="1" i="0" dirty="0">
              <a:solidFill>
                <a:srgbClr val="15171B"/>
              </a:solidFill>
            </a:endParaRPr>
          </a:p>
        </p:txBody>
      </p:sp>
      <p:sp>
        <p:nvSpPr>
          <p:cNvPr id="13" name="step-arrow-2">
            <a:extLst>
              <a:ext uri="{FF2B5EF4-FFF2-40B4-BE49-F238E27FC236}">
                <a16:creationId xmlns:a16="http://schemas.microsoft.com/office/drawing/2014/main" id="{043D713A-23B5-4900-A959-0B18FB20A67E}"/>
              </a:ext>
            </a:extLst>
          </p:cNvPr>
          <p:cNvSpPr>
            <a:spLocks noGrp="1"/>
          </p:cNvSpPr>
          <p:nvPr/>
        </p:nvSpPr>
        <p:spPr>
          <a:xfrm>
            <a:off x="3600450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14" name="step-3">
            <a:extLst>
              <a:ext uri="{FF2B5EF4-FFF2-40B4-BE49-F238E27FC236}">
                <a16:creationId xmlns:a16="http://schemas.microsoft.com/office/drawing/2014/main" id="{71D2CADE-C782-4F66-AFC6-143E30142BA1}"/>
              </a:ext>
            </a:extLst>
          </p:cNvPr>
          <p:cNvSpPr>
            <a:spLocks noGrp="1"/>
          </p:cNvSpPr>
          <p:nvPr/>
        </p:nvSpPr>
        <p:spPr>
          <a:xfrm>
            <a:off x="3829050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5" name="step-number-3">
            <a:extLst>
              <a:ext uri="{FF2B5EF4-FFF2-40B4-BE49-F238E27FC236}">
                <a16:creationId xmlns:a16="http://schemas.microsoft.com/office/drawing/2014/main" id="{F4823440-703D-4AF0-A24D-4BFCDC64855B}"/>
              </a:ext>
            </a:extLst>
          </p:cNvPr>
          <p:cNvSpPr>
            <a:spLocks noGrp="1"/>
          </p:cNvSpPr>
          <p:nvPr/>
        </p:nvSpPr>
        <p:spPr>
          <a:xfrm>
            <a:off x="4286250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-number-text-3">
            <a:extLst>
              <a:ext uri="{FF2B5EF4-FFF2-40B4-BE49-F238E27FC236}">
                <a16:creationId xmlns:a16="http://schemas.microsoft.com/office/drawing/2014/main" id="{50567C90-DCE8-499E-9B12-CB5F5B0E335C}"/>
              </a:ext>
            </a:extLst>
          </p:cNvPr>
          <p:cNvSpPr>
            <a:spLocks noGrp="1"/>
          </p:cNvSpPr>
          <p:nvPr/>
        </p:nvSpPr>
        <p:spPr>
          <a:xfrm>
            <a:off x="4381500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step-copy-3">
            <a:extLst>
              <a:ext uri="{FF2B5EF4-FFF2-40B4-BE49-F238E27FC236}">
                <a16:creationId xmlns:a16="http://schemas.microsoft.com/office/drawing/2014/main" id="{CFCEE061-F994-43A3-AC8A-C5AFB7413C18}"/>
              </a:ext>
            </a:extLst>
          </p:cNvPr>
          <p:cNvSpPr>
            <a:spLocks noGrp="1"/>
          </p:cNvSpPr>
          <p:nvPr/>
        </p:nvSpPr>
        <p:spPr>
          <a:xfrm>
            <a:off x="3881437" y="3568215"/>
            <a:ext cx="12477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Extract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structured fields</a:t>
            </a:r>
          </a:p>
        </p:txBody>
      </p:sp>
      <p:sp>
        <p:nvSpPr>
          <p:cNvPr id="18" name="step-arrow-3">
            <a:extLst>
              <a:ext uri="{FF2B5EF4-FFF2-40B4-BE49-F238E27FC236}">
                <a16:creationId xmlns:a16="http://schemas.microsoft.com/office/drawing/2014/main" id="{79224212-148C-4DFB-801B-CE55D146B5FD}"/>
              </a:ext>
            </a:extLst>
          </p:cNvPr>
          <p:cNvSpPr>
            <a:spLocks noGrp="1"/>
          </p:cNvSpPr>
          <p:nvPr/>
        </p:nvSpPr>
        <p:spPr>
          <a:xfrm>
            <a:off x="5172075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19" name="step-4">
            <a:extLst>
              <a:ext uri="{FF2B5EF4-FFF2-40B4-BE49-F238E27FC236}">
                <a16:creationId xmlns:a16="http://schemas.microsoft.com/office/drawing/2014/main" id="{6F9C1DA5-B4C5-46EC-8C67-CF1971A76641}"/>
              </a:ext>
            </a:extLst>
          </p:cNvPr>
          <p:cNvSpPr>
            <a:spLocks noGrp="1"/>
          </p:cNvSpPr>
          <p:nvPr/>
        </p:nvSpPr>
        <p:spPr>
          <a:xfrm>
            <a:off x="5400675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step-number-4">
            <a:extLst>
              <a:ext uri="{FF2B5EF4-FFF2-40B4-BE49-F238E27FC236}">
                <a16:creationId xmlns:a16="http://schemas.microsoft.com/office/drawing/2014/main" id="{41CAD5A6-0EF1-408E-A41C-6FA0130F7FCE}"/>
              </a:ext>
            </a:extLst>
          </p:cNvPr>
          <p:cNvSpPr>
            <a:spLocks noGrp="1"/>
          </p:cNvSpPr>
          <p:nvPr/>
        </p:nvSpPr>
        <p:spPr>
          <a:xfrm>
            <a:off x="5857875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7191D"/>
          </a:solidFill>
          <a:ln w="0">
            <a:solidFill>
              <a:srgbClr val="1719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ep-number-text-4">
            <a:extLst>
              <a:ext uri="{FF2B5EF4-FFF2-40B4-BE49-F238E27FC236}">
                <a16:creationId xmlns:a16="http://schemas.microsoft.com/office/drawing/2014/main" id="{3B6B428F-E6C5-46D6-A982-BFEA15834B4E}"/>
              </a:ext>
            </a:extLst>
          </p:cNvPr>
          <p:cNvSpPr>
            <a:spLocks noGrp="1"/>
          </p:cNvSpPr>
          <p:nvPr/>
        </p:nvSpPr>
        <p:spPr>
          <a:xfrm>
            <a:off x="5953125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step-copy-4">
            <a:extLst>
              <a:ext uri="{FF2B5EF4-FFF2-40B4-BE49-F238E27FC236}">
                <a16:creationId xmlns:a16="http://schemas.microsoft.com/office/drawing/2014/main" id="{0CC86AB1-3499-4527-8193-68DAFF72D284}"/>
              </a:ext>
            </a:extLst>
          </p:cNvPr>
          <p:cNvSpPr>
            <a:spLocks noGrp="1"/>
          </p:cNvSpPr>
          <p:nvPr/>
        </p:nvSpPr>
        <p:spPr>
          <a:xfrm>
            <a:off x="5438775" y="3568215"/>
            <a:ext cx="12287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Validate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normalize values</a:t>
            </a:r>
          </a:p>
        </p:txBody>
      </p:sp>
      <p:sp>
        <p:nvSpPr>
          <p:cNvPr id="23" name="step-arrow-4">
            <a:extLst>
              <a:ext uri="{FF2B5EF4-FFF2-40B4-BE49-F238E27FC236}">
                <a16:creationId xmlns:a16="http://schemas.microsoft.com/office/drawing/2014/main" id="{826FA3A6-CC13-4573-9FBB-AC012DC7B839}"/>
              </a:ext>
            </a:extLst>
          </p:cNvPr>
          <p:cNvSpPr>
            <a:spLocks noGrp="1"/>
          </p:cNvSpPr>
          <p:nvPr/>
        </p:nvSpPr>
        <p:spPr>
          <a:xfrm>
            <a:off x="6743700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24" name="step-5">
            <a:extLst>
              <a:ext uri="{FF2B5EF4-FFF2-40B4-BE49-F238E27FC236}">
                <a16:creationId xmlns:a16="http://schemas.microsoft.com/office/drawing/2014/main" id="{23536E5A-FD7B-456C-A83F-E41AB60C0567}"/>
              </a:ext>
            </a:extLst>
          </p:cNvPr>
          <p:cNvSpPr>
            <a:spLocks noGrp="1"/>
          </p:cNvSpPr>
          <p:nvPr/>
        </p:nvSpPr>
        <p:spPr>
          <a:xfrm>
            <a:off x="6972300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5" name="step-number-5">
            <a:extLst>
              <a:ext uri="{FF2B5EF4-FFF2-40B4-BE49-F238E27FC236}">
                <a16:creationId xmlns:a16="http://schemas.microsoft.com/office/drawing/2014/main" id="{5E823658-3AB9-4F25-BB17-1A31D0B5D878}"/>
              </a:ext>
            </a:extLst>
          </p:cNvPr>
          <p:cNvSpPr>
            <a:spLocks noGrp="1"/>
          </p:cNvSpPr>
          <p:nvPr/>
        </p:nvSpPr>
        <p:spPr>
          <a:xfrm>
            <a:off x="7429500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7191D"/>
          </a:solidFill>
          <a:ln w="0">
            <a:solidFill>
              <a:srgbClr val="1719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tep-number-text-5">
            <a:extLst>
              <a:ext uri="{FF2B5EF4-FFF2-40B4-BE49-F238E27FC236}">
                <a16:creationId xmlns:a16="http://schemas.microsoft.com/office/drawing/2014/main" id="{A7C8F9A0-2B8E-45C1-AE6D-318BFC4F7406}"/>
              </a:ext>
            </a:extLst>
          </p:cNvPr>
          <p:cNvSpPr>
            <a:spLocks noGrp="1"/>
          </p:cNvSpPr>
          <p:nvPr/>
        </p:nvSpPr>
        <p:spPr>
          <a:xfrm>
            <a:off x="7524750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copy-5">
            <a:extLst>
              <a:ext uri="{FF2B5EF4-FFF2-40B4-BE49-F238E27FC236}">
                <a16:creationId xmlns:a16="http://schemas.microsoft.com/office/drawing/2014/main" id="{CB7A1C55-F5C3-4C6B-8761-9C8ED63385C6}"/>
              </a:ext>
            </a:extLst>
          </p:cNvPr>
          <p:cNvSpPr>
            <a:spLocks noGrp="1"/>
          </p:cNvSpPr>
          <p:nvPr/>
        </p:nvSpPr>
        <p:spPr>
          <a:xfrm>
            <a:off x="7143750" y="3568215"/>
            <a:ext cx="990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>
                <a:solidFill>
                  <a:srgbClr val="15171B"/>
                </a:solidFill>
              </a:rPr>
              <a:t>Review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>
                <a:solidFill>
                  <a:srgbClr val="15171B"/>
                </a:solidFill>
              </a:rPr>
              <a:t>approve or reject</a:t>
            </a:r>
          </a:p>
        </p:txBody>
      </p:sp>
      <p:sp>
        <p:nvSpPr>
          <p:cNvPr id="28" name="step-arrow-5">
            <a:extLst>
              <a:ext uri="{FF2B5EF4-FFF2-40B4-BE49-F238E27FC236}">
                <a16:creationId xmlns:a16="http://schemas.microsoft.com/office/drawing/2014/main" id="{79767BCD-253A-4B40-AD24-9057C7B27DB3}"/>
              </a:ext>
            </a:extLst>
          </p:cNvPr>
          <p:cNvSpPr>
            <a:spLocks noGrp="1"/>
          </p:cNvSpPr>
          <p:nvPr/>
        </p:nvSpPr>
        <p:spPr>
          <a:xfrm>
            <a:off x="8315325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29" name="step-6">
            <a:extLst>
              <a:ext uri="{FF2B5EF4-FFF2-40B4-BE49-F238E27FC236}">
                <a16:creationId xmlns:a16="http://schemas.microsoft.com/office/drawing/2014/main" id="{C1BC4716-46DD-417B-9132-002C51150FB2}"/>
              </a:ext>
            </a:extLst>
          </p:cNvPr>
          <p:cNvSpPr>
            <a:spLocks noGrp="1"/>
          </p:cNvSpPr>
          <p:nvPr/>
        </p:nvSpPr>
        <p:spPr>
          <a:xfrm>
            <a:off x="8543925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30" name="step-number-6">
            <a:extLst>
              <a:ext uri="{FF2B5EF4-FFF2-40B4-BE49-F238E27FC236}">
                <a16:creationId xmlns:a16="http://schemas.microsoft.com/office/drawing/2014/main" id="{8EFA907C-3256-47F9-8ED2-E4D7DE1799C1}"/>
              </a:ext>
            </a:extLst>
          </p:cNvPr>
          <p:cNvSpPr>
            <a:spLocks noGrp="1"/>
          </p:cNvSpPr>
          <p:nvPr/>
        </p:nvSpPr>
        <p:spPr>
          <a:xfrm>
            <a:off x="9001125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tep-number-text-6">
            <a:extLst>
              <a:ext uri="{FF2B5EF4-FFF2-40B4-BE49-F238E27FC236}">
                <a16:creationId xmlns:a16="http://schemas.microsoft.com/office/drawing/2014/main" id="{728BBCD7-C945-47A0-B533-253AD0392002}"/>
              </a:ext>
            </a:extLst>
          </p:cNvPr>
          <p:cNvSpPr>
            <a:spLocks noGrp="1"/>
          </p:cNvSpPr>
          <p:nvPr/>
        </p:nvSpPr>
        <p:spPr>
          <a:xfrm>
            <a:off x="9096375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step-copy-6">
            <a:extLst>
              <a:ext uri="{FF2B5EF4-FFF2-40B4-BE49-F238E27FC236}">
                <a16:creationId xmlns:a16="http://schemas.microsoft.com/office/drawing/2014/main" id="{4300D8AE-5ECD-4CFF-AA53-4DB46FDC935D}"/>
              </a:ext>
            </a:extLst>
          </p:cNvPr>
          <p:cNvSpPr>
            <a:spLocks noGrp="1"/>
          </p:cNvSpPr>
          <p:nvPr/>
        </p:nvSpPr>
        <p:spPr>
          <a:xfrm>
            <a:off x="8610600" y="3568215"/>
            <a:ext cx="1219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Store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searchable library</a:t>
            </a:r>
          </a:p>
        </p:txBody>
      </p:sp>
      <p:sp>
        <p:nvSpPr>
          <p:cNvPr id="33" name="step-arrow-6">
            <a:extLst>
              <a:ext uri="{FF2B5EF4-FFF2-40B4-BE49-F238E27FC236}">
                <a16:creationId xmlns:a16="http://schemas.microsoft.com/office/drawing/2014/main" id="{CA1D5FFC-033B-4297-8F3F-CC787F482E70}"/>
              </a:ext>
            </a:extLst>
          </p:cNvPr>
          <p:cNvSpPr>
            <a:spLocks noGrp="1"/>
          </p:cNvSpPr>
          <p:nvPr/>
        </p:nvSpPr>
        <p:spPr>
          <a:xfrm>
            <a:off x="9886950" y="3511065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E60000"/>
                </a:solidFill>
              </a:defRPr>
            </a:pPr>
            <a:r>
              <a:rPr sz="2100" b="1" i="0">
                <a:solidFill>
                  <a:srgbClr val="E60000"/>
                </a:solidFill>
              </a:rPr>
              <a:t>&gt;</a:t>
            </a:r>
          </a:p>
        </p:txBody>
      </p:sp>
      <p:sp>
        <p:nvSpPr>
          <p:cNvPr id="34" name="step-7">
            <a:extLst>
              <a:ext uri="{FF2B5EF4-FFF2-40B4-BE49-F238E27FC236}">
                <a16:creationId xmlns:a16="http://schemas.microsoft.com/office/drawing/2014/main" id="{90222266-8E9E-4885-BD12-0EDF67B77B8A}"/>
              </a:ext>
            </a:extLst>
          </p:cNvPr>
          <p:cNvSpPr>
            <a:spLocks noGrp="1"/>
          </p:cNvSpPr>
          <p:nvPr/>
        </p:nvSpPr>
        <p:spPr>
          <a:xfrm>
            <a:off x="10115550" y="2730015"/>
            <a:ext cx="1333500" cy="1981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35" name="step-number-7">
            <a:extLst>
              <a:ext uri="{FF2B5EF4-FFF2-40B4-BE49-F238E27FC236}">
                <a16:creationId xmlns:a16="http://schemas.microsoft.com/office/drawing/2014/main" id="{4123120D-1339-40CA-87D7-57396572E2F1}"/>
              </a:ext>
            </a:extLst>
          </p:cNvPr>
          <p:cNvSpPr>
            <a:spLocks noGrp="1"/>
          </p:cNvSpPr>
          <p:nvPr/>
        </p:nvSpPr>
        <p:spPr>
          <a:xfrm>
            <a:off x="10572750" y="292051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tep-number-text-7">
            <a:extLst>
              <a:ext uri="{FF2B5EF4-FFF2-40B4-BE49-F238E27FC236}">
                <a16:creationId xmlns:a16="http://schemas.microsoft.com/office/drawing/2014/main" id="{AA242F58-191C-4370-B66C-8D0277772C9C}"/>
              </a:ext>
            </a:extLst>
          </p:cNvPr>
          <p:cNvSpPr>
            <a:spLocks noGrp="1"/>
          </p:cNvSpPr>
          <p:nvPr/>
        </p:nvSpPr>
        <p:spPr>
          <a:xfrm>
            <a:off x="10668000" y="301576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step-copy-7">
            <a:extLst>
              <a:ext uri="{FF2B5EF4-FFF2-40B4-BE49-F238E27FC236}">
                <a16:creationId xmlns:a16="http://schemas.microsoft.com/office/drawing/2014/main" id="{EF83728E-5908-42B3-BBC4-5E0BB85E2811}"/>
              </a:ext>
            </a:extLst>
          </p:cNvPr>
          <p:cNvSpPr>
            <a:spLocks noGrp="1"/>
          </p:cNvSpPr>
          <p:nvPr/>
        </p:nvSpPr>
        <p:spPr>
          <a:xfrm>
            <a:off x="10048142" y="3568215"/>
            <a:ext cx="13906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Ask Zaki</a:t>
            </a:r>
          </a:p>
          <a:p>
            <a:pPr algn="ctr">
              <a:defRPr sz="1650" b="1" i="0">
                <a:solidFill>
                  <a:srgbClr val="15171B"/>
                </a:solidFill>
              </a:defRPr>
            </a:pPr>
            <a:r>
              <a:rPr sz="1650" b="1" i="0" dirty="0">
                <a:solidFill>
                  <a:srgbClr val="15171B"/>
                </a:solidFill>
              </a:rPr>
              <a:t>business questions</a:t>
            </a:r>
          </a:p>
        </p:txBody>
      </p:sp>
      <p:sp>
        <p:nvSpPr>
          <p:cNvPr id="40" name="footer-left-3">
            <a:extLst>
              <a:ext uri="{FF2B5EF4-FFF2-40B4-BE49-F238E27FC236}">
                <a16:creationId xmlns:a16="http://schemas.microsoft.com/office/drawing/2014/main" id="{0EB6B897-88DA-42B9-A5FD-FD2A0C02F3B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41" name="footer-right-3">
            <a:extLst>
              <a:ext uri="{FF2B5EF4-FFF2-40B4-BE49-F238E27FC236}">
                <a16:creationId xmlns:a16="http://schemas.microsoft.com/office/drawing/2014/main" id="{099862CE-CD91-4066-B148-A9D4C09A3C1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030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he app is built around practical user flows, not just OCR output-title">
            <a:extLst>
              <a:ext uri="{FF2B5EF4-FFF2-40B4-BE49-F238E27FC236}">
                <a16:creationId xmlns:a16="http://schemas.microsoft.com/office/drawing/2014/main" id="{CF649376-7F69-4729-B5E5-438DB9C399E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>
                <a:solidFill>
                  <a:srgbClr val="15171B"/>
                </a:solidFill>
              </a:rPr>
              <a:t>The app is built around practical user flows, not just OCR output</a:t>
            </a:r>
          </a:p>
        </p:txBody>
      </p:sp>
      <p:sp>
        <p:nvSpPr>
          <p:cNvPr id="3" name="capability-1">
            <a:extLst>
              <a:ext uri="{FF2B5EF4-FFF2-40B4-BE49-F238E27FC236}">
                <a16:creationId xmlns:a16="http://schemas.microsoft.com/office/drawing/2014/main" id="{DAB2124B-062C-4E94-BC4E-A0273439CD4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953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capability-accent-1">
            <a:extLst>
              <a:ext uri="{FF2B5EF4-FFF2-40B4-BE49-F238E27FC236}">
                <a16:creationId xmlns:a16="http://schemas.microsoft.com/office/drawing/2014/main" id="{5820221E-2F3F-4C74-B86C-8F8188B65682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11620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capability-title-1">
            <a:extLst>
              <a:ext uri="{FF2B5EF4-FFF2-40B4-BE49-F238E27FC236}">
                <a16:creationId xmlns:a16="http://schemas.microsoft.com/office/drawing/2014/main" id="{6440550D-4CFC-4842-B577-7ECBCBB95061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Scan modes</a:t>
            </a:r>
          </a:p>
        </p:txBody>
      </p:sp>
      <p:sp>
        <p:nvSpPr>
          <p:cNvPr id="6" name="capability-copy-1">
            <a:extLst>
              <a:ext uri="{FF2B5EF4-FFF2-40B4-BE49-F238E27FC236}">
                <a16:creationId xmlns:a16="http://schemas.microsoft.com/office/drawing/2014/main" id="{98248E3E-80A3-414E-81D7-D6F437A9E95F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Full extraction, partial extraction, and quick preview depending on user need.</a:t>
            </a:r>
          </a:p>
        </p:txBody>
      </p:sp>
      <p:sp>
        <p:nvSpPr>
          <p:cNvPr id="7" name="capability-2">
            <a:extLst>
              <a:ext uri="{FF2B5EF4-FFF2-40B4-BE49-F238E27FC236}">
                <a16:creationId xmlns:a16="http://schemas.microsoft.com/office/drawing/2014/main" id="{AEE8C874-7100-4718-9F3B-3519C7ED171E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4953000" cy="1619250"/>
          </a:xfrm>
          <a:prstGeom prst="roundRect">
            <a:avLst>
              <a:gd name="adj" fmla="val 9412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capability-accent-2">
            <a:extLst>
              <a:ext uri="{FF2B5EF4-FFF2-40B4-BE49-F238E27FC236}">
                <a16:creationId xmlns:a16="http://schemas.microsoft.com/office/drawing/2014/main" id="{A1E7C944-83A3-434E-AF0D-37A3D78CA372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95250" cy="11620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capability-title-2">
            <a:extLst>
              <a:ext uri="{FF2B5EF4-FFF2-40B4-BE49-F238E27FC236}">
                <a16:creationId xmlns:a16="http://schemas.microsoft.com/office/drawing/2014/main" id="{5ABDF9D1-593E-40CE-917F-CF1FA418AC08}"/>
              </a:ext>
            </a:extLst>
          </p:cNvPr>
          <p:cNvSpPr>
            <a:spLocks noGrp="1"/>
          </p:cNvSpPr>
          <p:nvPr/>
        </p:nvSpPr>
        <p:spPr>
          <a:xfrm>
            <a:off x="6648450" y="21145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Review workflow</a:t>
            </a:r>
          </a:p>
        </p:txBody>
      </p:sp>
      <p:sp>
        <p:nvSpPr>
          <p:cNvPr id="10" name="capability-copy-2">
            <a:extLst>
              <a:ext uri="{FF2B5EF4-FFF2-40B4-BE49-F238E27FC236}">
                <a16:creationId xmlns:a16="http://schemas.microsoft.com/office/drawing/2014/main" id="{3F3A874C-CE2F-403E-BBC5-D965CF8455C4}"/>
              </a:ext>
            </a:extLst>
          </p:cNvPr>
          <p:cNvSpPr>
            <a:spLocks noGrp="1"/>
          </p:cNvSpPr>
          <p:nvPr/>
        </p:nvSpPr>
        <p:spPr>
          <a:xfrm>
            <a:off x="6648450" y="257175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Approved, pending review, and rejected states make uncertain results visible and actionable.</a:t>
            </a:r>
          </a:p>
        </p:txBody>
      </p:sp>
      <p:sp>
        <p:nvSpPr>
          <p:cNvPr id="11" name="capability-3">
            <a:extLst>
              <a:ext uri="{FF2B5EF4-FFF2-40B4-BE49-F238E27FC236}">
                <a16:creationId xmlns:a16="http://schemas.microsoft.com/office/drawing/2014/main" id="{1B14599B-3B1F-4959-ADD6-BA909B8381C5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4953000" cy="1619250"/>
          </a:xfrm>
          <a:prstGeom prst="roundRect">
            <a:avLst>
              <a:gd name="adj" fmla="val 9412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capability-accent-3">
            <a:extLst>
              <a:ext uri="{FF2B5EF4-FFF2-40B4-BE49-F238E27FC236}">
                <a16:creationId xmlns:a16="http://schemas.microsoft.com/office/drawing/2014/main" id="{2BDCA321-E919-4C33-BBDC-24A08CA06326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95250" cy="11620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capability-title-3">
            <a:extLst>
              <a:ext uri="{FF2B5EF4-FFF2-40B4-BE49-F238E27FC236}">
                <a16:creationId xmlns:a16="http://schemas.microsoft.com/office/drawing/2014/main" id="{4715555C-BC1E-42A8-A68A-EDA86D3EAD5B}"/>
              </a:ext>
            </a:extLst>
          </p:cNvPr>
          <p:cNvSpPr>
            <a:spLocks noGrp="1"/>
          </p:cNvSpPr>
          <p:nvPr/>
        </p:nvSpPr>
        <p:spPr>
          <a:xfrm>
            <a:off x="1238250" y="41148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Library</a:t>
            </a:r>
          </a:p>
        </p:txBody>
      </p:sp>
      <p:sp>
        <p:nvSpPr>
          <p:cNvPr id="14" name="capability-copy-3">
            <a:extLst>
              <a:ext uri="{FF2B5EF4-FFF2-40B4-BE49-F238E27FC236}">
                <a16:creationId xmlns:a16="http://schemas.microsoft.com/office/drawing/2014/main" id="{D616CF40-829F-4656-BE47-87AAD545C853}"/>
              </a:ext>
            </a:extLst>
          </p:cNvPr>
          <p:cNvSpPr>
            <a:spLocks noGrp="1"/>
          </p:cNvSpPr>
          <p:nvPr/>
        </p:nvSpPr>
        <p:spPr>
          <a:xfrm>
            <a:off x="1238250" y="45720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Saved documents are searchable and organized instead of staying trapped inside image files.</a:t>
            </a:r>
          </a:p>
        </p:txBody>
      </p:sp>
      <p:sp>
        <p:nvSpPr>
          <p:cNvPr id="15" name="capability-4">
            <a:extLst>
              <a:ext uri="{FF2B5EF4-FFF2-40B4-BE49-F238E27FC236}">
                <a16:creationId xmlns:a16="http://schemas.microsoft.com/office/drawing/2014/main" id="{966D2B4D-DB75-48C8-83F0-267BF18AB19D}"/>
              </a:ext>
            </a:extLst>
          </p:cNvPr>
          <p:cNvSpPr>
            <a:spLocks noGrp="1"/>
          </p:cNvSpPr>
          <p:nvPr/>
        </p:nvSpPr>
        <p:spPr>
          <a:xfrm>
            <a:off x="6096000" y="3848100"/>
            <a:ext cx="4953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capability-accent-4">
            <a:extLst>
              <a:ext uri="{FF2B5EF4-FFF2-40B4-BE49-F238E27FC236}">
                <a16:creationId xmlns:a16="http://schemas.microsoft.com/office/drawing/2014/main" id="{47DFF43E-6185-4EF3-A9D6-D62F6865C536}"/>
              </a:ext>
            </a:extLst>
          </p:cNvPr>
          <p:cNvSpPr>
            <a:spLocks noGrp="1"/>
          </p:cNvSpPr>
          <p:nvPr/>
        </p:nvSpPr>
        <p:spPr>
          <a:xfrm>
            <a:off x="6343650" y="4076700"/>
            <a:ext cx="95250" cy="11620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capability-title-4">
            <a:extLst>
              <a:ext uri="{FF2B5EF4-FFF2-40B4-BE49-F238E27FC236}">
                <a16:creationId xmlns:a16="http://schemas.microsoft.com/office/drawing/2014/main" id="{3AD5BB73-5E34-4A0A-954E-6B5B94361A6D}"/>
              </a:ext>
            </a:extLst>
          </p:cNvPr>
          <p:cNvSpPr>
            <a:spLocks noGrp="1"/>
          </p:cNvSpPr>
          <p:nvPr/>
        </p:nvSpPr>
        <p:spPr>
          <a:xfrm>
            <a:off x="6648450" y="41148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Zaki assistant</a:t>
            </a:r>
          </a:p>
        </p:txBody>
      </p:sp>
      <p:sp>
        <p:nvSpPr>
          <p:cNvPr id="18" name="capability-copy-4">
            <a:extLst>
              <a:ext uri="{FF2B5EF4-FFF2-40B4-BE49-F238E27FC236}">
                <a16:creationId xmlns:a16="http://schemas.microsoft.com/office/drawing/2014/main" id="{D0A7F313-7390-467C-B485-C5AD4FFA48ED}"/>
              </a:ext>
            </a:extLst>
          </p:cNvPr>
          <p:cNvSpPr>
            <a:spLocks noGrp="1"/>
          </p:cNvSpPr>
          <p:nvPr/>
        </p:nvSpPr>
        <p:spPr>
          <a:xfrm>
            <a:off x="6648450" y="45720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Business-style questions run on approved documents only, with deterministic retrieval and calculations.</a:t>
            </a:r>
          </a:p>
        </p:txBody>
      </p:sp>
      <p:sp>
        <p:nvSpPr>
          <p:cNvPr id="19" name="footer-left-4">
            <a:extLst>
              <a:ext uri="{FF2B5EF4-FFF2-40B4-BE49-F238E27FC236}">
                <a16:creationId xmlns:a16="http://schemas.microsoft.com/office/drawing/2014/main" id="{806350D7-A832-413C-BA85-A8FF7A7C348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20" name="footer-right-4">
            <a:extLst>
              <a:ext uri="{FF2B5EF4-FFF2-40B4-BE49-F238E27FC236}">
                <a16:creationId xmlns:a16="http://schemas.microsoft.com/office/drawing/2014/main" id="{E48622BE-B8CB-4EA5-A847-D582FCD5994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667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he technical architecture balances AI flexibility with reliable business logic-title">
            <a:extLst>
              <a:ext uri="{FF2B5EF4-FFF2-40B4-BE49-F238E27FC236}">
                <a16:creationId xmlns:a16="http://schemas.microsoft.com/office/drawing/2014/main" id="{08143C05-2E12-4202-B716-86F0E2638C0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 dirty="0">
                <a:solidFill>
                  <a:srgbClr val="15171B"/>
                </a:solidFill>
              </a:rPr>
              <a:t>The technical architecture balances AI flexibility with reliable business logic</a:t>
            </a:r>
          </a:p>
        </p:txBody>
      </p:sp>
      <p:sp>
        <p:nvSpPr>
          <p:cNvPr id="3" name="layer-1">
            <a:extLst>
              <a:ext uri="{FF2B5EF4-FFF2-40B4-BE49-F238E27FC236}">
                <a16:creationId xmlns:a16="http://schemas.microsoft.com/office/drawing/2014/main" id="{BFA0F705-C072-4A84-9E20-9D99D00209B9}"/>
              </a:ext>
            </a:extLst>
          </p:cNvPr>
          <p:cNvSpPr>
            <a:spLocks noGrp="1"/>
          </p:cNvSpPr>
          <p:nvPr/>
        </p:nvSpPr>
        <p:spPr>
          <a:xfrm>
            <a:off x="1295400" y="1828800"/>
            <a:ext cx="96012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layer-pill-1">
            <a:extLst>
              <a:ext uri="{FF2B5EF4-FFF2-40B4-BE49-F238E27FC236}">
                <a16:creationId xmlns:a16="http://schemas.microsoft.com/office/drawing/2014/main" id="{D7597585-58B8-4DFB-AB60-AABE57FA22C5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228600" cy="495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layer-title-1">
            <a:extLst>
              <a:ext uri="{FF2B5EF4-FFF2-40B4-BE49-F238E27FC236}">
                <a16:creationId xmlns:a16="http://schemas.microsoft.com/office/drawing/2014/main" id="{F6276793-2467-48D9-9730-D59412222C75}"/>
              </a:ext>
            </a:extLst>
          </p:cNvPr>
          <p:cNvSpPr>
            <a:spLocks noGrp="1"/>
          </p:cNvSpPr>
          <p:nvPr/>
        </p:nvSpPr>
        <p:spPr>
          <a:xfrm>
            <a:off x="1581150" y="1981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5171B"/>
                </a:solidFill>
              </a:defRPr>
            </a:pPr>
            <a:r>
              <a:rPr sz="1950" b="1" i="0">
                <a:solidFill>
                  <a:srgbClr val="15171B"/>
                </a:solidFill>
              </a:rPr>
              <a:t>User layer</a:t>
            </a:r>
          </a:p>
        </p:txBody>
      </p:sp>
      <p:sp>
        <p:nvSpPr>
          <p:cNvPr id="6" name="layer-copy-1">
            <a:extLst>
              <a:ext uri="{FF2B5EF4-FFF2-40B4-BE49-F238E27FC236}">
                <a16:creationId xmlns:a16="http://schemas.microsoft.com/office/drawing/2014/main" id="{3DBE380E-3EC5-43BB-A848-4A1A72166966}"/>
              </a:ext>
            </a:extLst>
          </p:cNvPr>
          <p:cNvSpPr>
            <a:spLocks noGrp="1"/>
          </p:cNvSpPr>
          <p:nvPr/>
        </p:nvSpPr>
        <p:spPr>
          <a:xfrm>
            <a:off x="4381500" y="19812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777D87"/>
                </a:solidFill>
              </a:defRPr>
            </a:pPr>
            <a:r>
              <a:rPr sz="1350" b="0" i="0">
                <a:solidFill>
                  <a:srgbClr val="777D87"/>
                </a:solidFill>
              </a:rPr>
              <a:t>Streamlit UI, upload flow, scan options, review actions, and document library.</a:t>
            </a:r>
          </a:p>
        </p:txBody>
      </p:sp>
      <p:sp>
        <p:nvSpPr>
          <p:cNvPr id="7" name="layer-2">
            <a:extLst>
              <a:ext uri="{FF2B5EF4-FFF2-40B4-BE49-F238E27FC236}">
                <a16:creationId xmlns:a16="http://schemas.microsoft.com/office/drawing/2014/main" id="{79BCC364-3A31-4DEA-94AC-9BFCEF078086}"/>
              </a:ext>
            </a:extLst>
          </p:cNvPr>
          <p:cNvSpPr>
            <a:spLocks noGrp="1"/>
          </p:cNvSpPr>
          <p:nvPr/>
        </p:nvSpPr>
        <p:spPr>
          <a:xfrm>
            <a:off x="1295400" y="2895600"/>
            <a:ext cx="9601200" cy="838200"/>
          </a:xfrm>
          <a:prstGeom prst="roundRect">
            <a:avLst>
              <a:gd name="adj" fmla="val 18182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layer-pill-2">
            <a:extLst>
              <a:ext uri="{FF2B5EF4-FFF2-40B4-BE49-F238E27FC236}">
                <a16:creationId xmlns:a16="http://schemas.microsoft.com/office/drawing/2014/main" id="{1ECC1CD9-28A6-4738-AD45-695EA3FDE4CA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228600" cy="495300"/>
          </a:xfrm>
          <a:prstGeom prst="roundRect">
            <a:avLst>
              <a:gd name="adj" fmla="val 50000"/>
            </a:avLst>
          </a:prstGeom>
          <a:solidFill>
            <a:srgbClr val="17191D"/>
          </a:solidFill>
          <a:ln w="0">
            <a:solidFill>
              <a:srgbClr val="1719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layer-title-2">
            <a:extLst>
              <a:ext uri="{FF2B5EF4-FFF2-40B4-BE49-F238E27FC236}">
                <a16:creationId xmlns:a16="http://schemas.microsoft.com/office/drawing/2014/main" id="{04FE7129-B07B-4EED-8E76-A6EEACDE926D}"/>
              </a:ext>
            </a:extLst>
          </p:cNvPr>
          <p:cNvSpPr>
            <a:spLocks noGrp="1"/>
          </p:cNvSpPr>
          <p:nvPr/>
        </p:nvSpPr>
        <p:spPr>
          <a:xfrm>
            <a:off x="1581150" y="3048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5171B"/>
                </a:solidFill>
              </a:defRPr>
            </a:pPr>
            <a:r>
              <a:rPr sz="1950" b="1" i="0">
                <a:solidFill>
                  <a:srgbClr val="15171B"/>
                </a:solidFill>
              </a:rPr>
              <a:t>Document intelligence</a:t>
            </a:r>
          </a:p>
        </p:txBody>
      </p:sp>
      <p:sp>
        <p:nvSpPr>
          <p:cNvPr id="10" name="layer-copy-2">
            <a:extLst>
              <a:ext uri="{FF2B5EF4-FFF2-40B4-BE49-F238E27FC236}">
                <a16:creationId xmlns:a16="http://schemas.microsoft.com/office/drawing/2014/main" id="{B7C89BCA-F6D5-4ABC-8FB6-B1B03F6EFDAA}"/>
              </a:ext>
            </a:extLst>
          </p:cNvPr>
          <p:cNvSpPr>
            <a:spLocks noGrp="1"/>
          </p:cNvSpPr>
          <p:nvPr/>
        </p:nvSpPr>
        <p:spPr>
          <a:xfrm>
            <a:off x="4381500" y="30480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777D87"/>
                </a:solidFill>
              </a:defRPr>
            </a:pPr>
            <a:r>
              <a:rPr sz="1350" b="0" i="0">
                <a:solidFill>
                  <a:srgbClr val="777D87"/>
                </a:solidFill>
              </a:rPr>
              <a:t>OpenCV preprocessing, EasyOCR, document typing, structured extraction, normalization, and validation.</a:t>
            </a:r>
          </a:p>
        </p:txBody>
      </p:sp>
      <p:sp>
        <p:nvSpPr>
          <p:cNvPr id="11" name="layer-3">
            <a:extLst>
              <a:ext uri="{FF2B5EF4-FFF2-40B4-BE49-F238E27FC236}">
                <a16:creationId xmlns:a16="http://schemas.microsoft.com/office/drawing/2014/main" id="{15916784-8E9F-4DB0-8802-B3D0A0CB60A8}"/>
              </a:ext>
            </a:extLst>
          </p:cNvPr>
          <p:cNvSpPr>
            <a:spLocks noGrp="1"/>
          </p:cNvSpPr>
          <p:nvPr/>
        </p:nvSpPr>
        <p:spPr>
          <a:xfrm>
            <a:off x="1295400" y="3962400"/>
            <a:ext cx="96012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layer-pill-3">
            <a:extLst>
              <a:ext uri="{FF2B5EF4-FFF2-40B4-BE49-F238E27FC236}">
                <a16:creationId xmlns:a16="http://schemas.microsoft.com/office/drawing/2014/main" id="{24A16767-7908-45B9-A5F2-42DB645FB6D5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228600" cy="495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layer-title-3">
            <a:extLst>
              <a:ext uri="{FF2B5EF4-FFF2-40B4-BE49-F238E27FC236}">
                <a16:creationId xmlns:a16="http://schemas.microsoft.com/office/drawing/2014/main" id="{48172118-2738-4513-A4E8-CB4E6120F10F}"/>
              </a:ext>
            </a:extLst>
          </p:cNvPr>
          <p:cNvSpPr>
            <a:spLocks noGrp="1"/>
          </p:cNvSpPr>
          <p:nvPr/>
        </p:nvSpPr>
        <p:spPr>
          <a:xfrm>
            <a:off x="1581150" y="4114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5171B"/>
                </a:solidFill>
              </a:defRPr>
            </a:pPr>
            <a:r>
              <a:rPr sz="1950" b="1" i="0">
                <a:solidFill>
                  <a:srgbClr val="15171B"/>
                </a:solidFill>
              </a:rPr>
              <a:t>Trust + persistence</a:t>
            </a:r>
          </a:p>
        </p:txBody>
      </p:sp>
      <p:sp>
        <p:nvSpPr>
          <p:cNvPr id="14" name="layer-copy-3">
            <a:extLst>
              <a:ext uri="{FF2B5EF4-FFF2-40B4-BE49-F238E27FC236}">
                <a16:creationId xmlns:a16="http://schemas.microsoft.com/office/drawing/2014/main" id="{FBF40A13-8EEE-469B-9898-22187F578089}"/>
              </a:ext>
            </a:extLst>
          </p:cNvPr>
          <p:cNvSpPr>
            <a:spLocks noGrp="1"/>
          </p:cNvSpPr>
          <p:nvPr/>
        </p:nvSpPr>
        <p:spPr>
          <a:xfrm>
            <a:off x="4381500" y="41148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777D87"/>
                </a:solidFill>
              </a:defRPr>
            </a:pPr>
            <a:r>
              <a:rPr sz="1350" b="0" i="0">
                <a:solidFill>
                  <a:srgbClr val="777D87"/>
                </a:solidFill>
              </a:rPr>
              <a:t>SQLite storage, extracted fields, validation issues, approval state, and review workflow.</a:t>
            </a:r>
          </a:p>
        </p:txBody>
      </p:sp>
      <p:sp>
        <p:nvSpPr>
          <p:cNvPr id="15" name="layer-4">
            <a:extLst>
              <a:ext uri="{FF2B5EF4-FFF2-40B4-BE49-F238E27FC236}">
                <a16:creationId xmlns:a16="http://schemas.microsoft.com/office/drawing/2014/main" id="{CE176FC1-C212-405A-83D4-DCF38D936A3D}"/>
              </a:ext>
            </a:extLst>
          </p:cNvPr>
          <p:cNvSpPr>
            <a:spLocks noGrp="1"/>
          </p:cNvSpPr>
          <p:nvPr/>
        </p:nvSpPr>
        <p:spPr>
          <a:xfrm>
            <a:off x="1295400" y="5029200"/>
            <a:ext cx="9601200" cy="838200"/>
          </a:xfrm>
          <a:prstGeom prst="roundRect">
            <a:avLst>
              <a:gd name="adj" fmla="val 18182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layer-pill-4">
            <a:extLst>
              <a:ext uri="{FF2B5EF4-FFF2-40B4-BE49-F238E27FC236}">
                <a16:creationId xmlns:a16="http://schemas.microsoft.com/office/drawing/2014/main" id="{3EFDA373-ECF8-40F2-9921-B253C62CB956}"/>
              </a:ext>
            </a:extLst>
          </p:cNvPr>
          <p:cNvSpPr>
            <a:spLocks noGrp="1"/>
          </p:cNvSpPr>
          <p:nvPr/>
        </p:nvSpPr>
        <p:spPr>
          <a:xfrm>
            <a:off x="914400" y="5200650"/>
            <a:ext cx="228600" cy="495300"/>
          </a:xfrm>
          <a:prstGeom prst="roundRect">
            <a:avLst>
              <a:gd name="adj" fmla="val 50000"/>
            </a:avLst>
          </a:prstGeom>
          <a:solidFill>
            <a:srgbClr val="17191D"/>
          </a:solidFill>
          <a:ln w="0">
            <a:solidFill>
              <a:srgbClr val="17191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layer-title-4">
            <a:extLst>
              <a:ext uri="{FF2B5EF4-FFF2-40B4-BE49-F238E27FC236}">
                <a16:creationId xmlns:a16="http://schemas.microsoft.com/office/drawing/2014/main" id="{A8A785AA-4CA7-40C1-B1E5-FA15EF988A7A}"/>
              </a:ext>
            </a:extLst>
          </p:cNvPr>
          <p:cNvSpPr>
            <a:spLocks noGrp="1"/>
          </p:cNvSpPr>
          <p:nvPr/>
        </p:nvSpPr>
        <p:spPr>
          <a:xfrm>
            <a:off x="1581150" y="51816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5171B"/>
                </a:solidFill>
              </a:defRPr>
            </a:pPr>
            <a:r>
              <a:rPr sz="1950" b="1" i="0">
                <a:solidFill>
                  <a:srgbClr val="15171B"/>
                </a:solidFill>
              </a:rPr>
              <a:t>Analytics + Q&amp;A</a:t>
            </a:r>
          </a:p>
        </p:txBody>
      </p:sp>
      <p:sp>
        <p:nvSpPr>
          <p:cNvPr id="18" name="layer-copy-4">
            <a:extLst>
              <a:ext uri="{FF2B5EF4-FFF2-40B4-BE49-F238E27FC236}">
                <a16:creationId xmlns:a16="http://schemas.microsoft.com/office/drawing/2014/main" id="{56764953-3EE0-4DB8-87CF-CA8203A3BA7F}"/>
              </a:ext>
            </a:extLst>
          </p:cNvPr>
          <p:cNvSpPr>
            <a:spLocks noGrp="1"/>
          </p:cNvSpPr>
          <p:nvPr/>
        </p:nvSpPr>
        <p:spPr>
          <a:xfrm>
            <a:off x="4381500" y="51816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777D87"/>
                </a:solidFill>
              </a:defRPr>
            </a:pPr>
            <a:r>
              <a:rPr sz="1350" b="0" i="0">
                <a:solidFill>
                  <a:srgbClr val="777D87"/>
                </a:solidFill>
              </a:rPr>
              <a:t>Zaki routing, business tools, approved-only retrieval, and currency-aware deterministic analytics.</a:t>
            </a:r>
          </a:p>
        </p:txBody>
      </p:sp>
      <p:sp>
        <p:nvSpPr>
          <p:cNvPr id="19" name="architecture-base">
            <a:extLst>
              <a:ext uri="{FF2B5EF4-FFF2-40B4-BE49-F238E27FC236}">
                <a16:creationId xmlns:a16="http://schemas.microsoft.com/office/drawing/2014/main" id="{9FCA35A9-3137-4B1E-8432-7B1FFB57D065}"/>
              </a:ext>
            </a:extLst>
          </p:cNvPr>
          <p:cNvSpPr>
            <a:spLocks noGrp="1"/>
          </p:cNvSpPr>
          <p:nvPr/>
        </p:nvSpPr>
        <p:spPr>
          <a:xfrm>
            <a:off x="1295400" y="6096000"/>
            <a:ext cx="9601200" cy="17145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footer-left-5">
            <a:extLst>
              <a:ext uri="{FF2B5EF4-FFF2-40B4-BE49-F238E27FC236}">
                <a16:creationId xmlns:a16="http://schemas.microsoft.com/office/drawing/2014/main" id="{7283AC86-7E7D-41CB-B8B2-A1AA6782D81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21" name="footer-right-5">
            <a:extLst>
              <a:ext uri="{FF2B5EF4-FFF2-40B4-BE49-F238E27FC236}">
                <a16:creationId xmlns:a16="http://schemas.microsoft.com/office/drawing/2014/main" id="{690EA952-4977-4C64-A591-D6D8FA221FB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825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he business value is speed, reliability, and better visibility into document data-title">
            <a:extLst>
              <a:ext uri="{FF2B5EF4-FFF2-40B4-BE49-F238E27FC236}">
                <a16:creationId xmlns:a16="http://schemas.microsoft.com/office/drawing/2014/main" id="{0591E621-9CA7-4EF8-A741-68AACEC628A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 dirty="0">
                <a:solidFill>
                  <a:srgbClr val="15171B"/>
                </a:solidFill>
              </a:rPr>
              <a:t>The business value is speed, reliability, and better visibility into document data</a:t>
            </a:r>
          </a:p>
        </p:txBody>
      </p:sp>
      <p:sp>
        <p:nvSpPr>
          <p:cNvPr id="3" name="outcome-1">
            <a:extLst>
              <a:ext uri="{FF2B5EF4-FFF2-40B4-BE49-F238E27FC236}">
                <a16:creationId xmlns:a16="http://schemas.microsoft.com/office/drawing/2014/main" id="{0523851C-3B78-4009-9414-E13F6D3F35A4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143250" cy="222885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outcome-title-1">
            <a:extLst>
              <a:ext uri="{FF2B5EF4-FFF2-40B4-BE49-F238E27FC236}">
                <a16:creationId xmlns:a16="http://schemas.microsoft.com/office/drawing/2014/main" id="{18B10658-99C5-45E3-85C6-00C28070D7EB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Faster handling</a:t>
            </a:r>
          </a:p>
        </p:txBody>
      </p:sp>
      <p:sp>
        <p:nvSpPr>
          <p:cNvPr id="5" name="outcome-copy-1">
            <a:extLst>
              <a:ext uri="{FF2B5EF4-FFF2-40B4-BE49-F238E27FC236}">
                <a16:creationId xmlns:a16="http://schemas.microsoft.com/office/drawing/2014/main" id="{86887F49-CC03-4D36-986C-370742D74CA0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Less time spent manually reading, retyping, and checking business documents.</a:t>
            </a:r>
          </a:p>
        </p:txBody>
      </p:sp>
      <p:sp>
        <p:nvSpPr>
          <p:cNvPr id="6" name="outcome-2">
            <a:extLst>
              <a:ext uri="{FF2B5EF4-FFF2-40B4-BE49-F238E27FC236}">
                <a16:creationId xmlns:a16="http://schemas.microsoft.com/office/drawing/2014/main" id="{0E9DEF86-C83B-4013-A4E7-421E2DD558D6}"/>
              </a:ext>
            </a:extLst>
          </p:cNvPr>
          <p:cNvSpPr>
            <a:spLocks noGrp="1"/>
          </p:cNvSpPr>
          <p:nvPr/>
        </p:nvSpPr>
        <p:spPr>
          <a:xfrm>
            <a:off x="4286250" y="2038350"/>
            <a:ext cx="3143250" cy="2228850"/>
          </a:xfrm>
          <a:prstGeom prst="roundRect">
            <a:avLst>
              <a:gd name="adj" fmla="val 6838"/>
            </a:avLst>
          </a:prstGeom>
          <a:solidFill>
            <a:srgbClr val="FBFBFC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7" name="outcome-title-2">
            <a:extLst>
              <a:ext uri="{FF2B5EF4-FFF2-40B4-BE49-F238E27FC236}">
                <a16:creationId xmlns:a16="http://schemas.microsoft.com/office/drawing/2014/main" id="{0F54FE6D-9415-463E-A9BA-629245D6287C}"/>
              </a:ext>
            </a:extLst>
          </p:cNvPr>
          <p:cNvSpPr>
            <a:spLocks noGrp="1"/>
          </p:cNvSpPr>
          <p:nvPr/>
        </p:nvSpPr>
        <p:spPr>
          <a:xfrm>
            <a:off x="4552949" y="2362200"/>
            <a:ext cx="269735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 dirty="0">
                <a:solidFill>
                  <a:srgbClr val="15171B"/>
                </a:solidFill>
              </a:rPr>
              <a:t>Better data quality</a:t>
            </a:r>
          </a:p>
        </p:txBody>
      </p:sp>
      <p:sp>
        <p:nvSpPr>
          <p:cNvPr id="8" name="outcome-copy-2">
            <a:extLst>
              <a:ext uri="{FF2B5EF4-FFF2-40B4-BE49-F238E27FC236}">
                <a16:creationId xmlns:a16="http://schemas.microsoft.com/office/drawing/2014/main" id="{5D163058-207E-470A-8FAF-34B64FCD1AD4}"/>
              </a:ext>
            </a:extLst>
          </p:cNvPr>
          <p:cNvSpPr>
            <a:spLocks noGrp="1"/>
          </p:cNvSpPr>
          <p:nvPr/>
        </p:nvSpPr>
        <p:spPr>
          <a:xfrm>
            <a:off x="4552950" y="2895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 dirty="0">
                <a:solidFill>
                  <a:srgbClr val="777D87"/>
                </a:solidFill>
              </a:rPr>
              <a:t>Validation and review states reduce the chance of blindly trusting bad extraction.</a:t>
            </a:r>
          </a:p>
        </p:txBody>
      </p:sp>
      <p:sp>
        <p:nvSpPr>
          <p:cNvPr id="9" name="outcome-3">
            <a:extLst>
              <a:ext uri="{FF2B5EF4-FFF2-40B4-BE49-F238E27FC236}">
                <a16:creationId xmlns:a16="http://schemas.microsoft.com/office/drawing/2014/main" id="{F2980E54-8ADF-4369-BB7D-C19AF53EBB6A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3143250" cy="222885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0" name="outcome-title-3">
            <a:extLst>
              <a:ext uri="{FF2B5EF4-FFF2-40B4-BE49-F238E27FC236}">
                <a16:creationId xmlns:a16="http://schemas.microsoft.com/office/drawing/2014/main" id="{84B31552-40B4-42B5-B110-8408C2EF6DBF}"/>
              </a:ext>
            </a:extLst>
          </p:cNvPr>
          <p:cNvSpPr>
            <a:spLocks noGrp="1"/>
          </p:cNvSpPr>
          <p:nvPr/>
        </p:nvSpPr>
        <p:spPr>
          <a:xfrm>
            <a:off x="8153400" y="2362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5171B"/>
                </a:solidFill>
              </a:defRPr>
            </a:pPr>
            <a:r>
              <a:rPr sz="2100" b="1" i="0">
                <a:solidFill>
                  <a:srgbClr val="15171B"/>
                </a:solidFill>
              </a:rPr>
              <a:t>More visibility</a:t>
            </a:r>
          </a:p>
        </p:txBody>
      </p:sp>
      <p:sp>
        <p:nvSpPr>
          <p:cNvPr id="11" name="outcome-copy-3">
            <a:extLst>
              <a:ext uri="{FF2B5EF4-FFF2-40B4-BE49-F238E27FC236}">
                <a16:creationId xmlns:a16="http://schemas.microsoft.com/office/drawing/2014/main" id="{FC9AC9EF-BCF6-456E-A3A4-F8A6F7A9133D}"/>
              </a:ext>
            </a:extLst>
          </p:cNvPr>
          <p:cNvSpPr>
            <a:spLocks noGrp="1"/>
          </p:cNvSpPr>
          <p:nvPr/>
        </p:nvSpPr>
        <p:spPr>
          <a:xfrm>
            <a:off x="8153400" y="289560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777D87"/>
                </a:solidFill>
              </a:defRPr>
            </a:pPr>
            <a:r>
              <a:rPr sz="1500" b="0" i="0">
                <a:solidFill>
                  <a:srgbClr val="777D87"/>
                </a:solidFill>
              </a:rPr>
              <a:t>Saved structured records make later search, review, and analytics much easier.</a:t>
            </a:r>
          </a:p>
        </p:txBody>
      </p:sp>
      <p:sp>
        <p:nvSpPr>
          <p:cNvPr id="12" name="next-steps-panel">
            <a:extLst>
              <a:ext uri="{FF2B5EF4-FFF2-40B4-BE49-F238E27FC236}">
                <a16:creationId xmlns:a16="http://schemas.microsoft.com/office/drawing/2014/main" id="{9881456D-9058-403E-8EEE-3E239D6006E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1066800"/>
          </a:xfrm>
          <a:prstGeom prst="roundRect">
            <a:avLst>
              <a:gd name="adj" fmla="val 14286"/>
            </a:avLst>
          </a:prstGeom>
          <a:solidFill>
            <a:srgbClr val="17191D"/>
          </a:solidFill>
          <a:ln w="9525">
            <a:solidFill>
              <a:srgbClr val="1719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3" name="next-steps-label">
            <a:extLst>
              <a:ext uri="{FF2B5EF4-FFF2-40B4-BE49-F238E27FC236}">
                <a16:creationId xmlns:a16="http://schemas.microsoft.com/office/drawing/2014/main" id="{1FA29E78-AB23-4768-A2C1-D453ABF0F847}"/>
              </a:ext>
            </a:extLst>
          </p:cNvPr>
          <p:cNvSpPr>
            <a:spLocks noGrp="1"/>
          </p:cNvSpPr>
          <p:nvPr/>
        </p:nvSpPr>
        <p:spPr>
          <a:xfrm>
            <a:off x="990600" y="49720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FF8A8A"/>
                </a:solidFill>
              </a:defRPr>
            </a:pPr>
            <a:r>
              <a:rPr sz="1050" b="1" i="0">
                <a:solidFill>
                  <a:srgbClr val="FF8A8A"/>
                </a:solidFill>
              </a:rPr>
              <a:t>NEXT STEPS</a:t>
            </a:r>
          </a:p>
        </p:txBody>
      </p:sp>
      <p:sp>
        <p:nvSpPr>
          <p:cNvPr id="14" name="next-steps-copy">
            <a:extLst>
              <a:ext uri="{FF2B5EF4-FFF2-40B4-BE49-F238E27FC236}">
                <a16:creationId xmlns:a16="http://schemas.microsoft.com/office/drawing/2014/main" id="{D3C45F0E-1399-4AC6-9533-6F8052AB78CD}"/>
              </a:ext>
            </a:extLst>
          </p:cNvPr>
          <p:cNvSpPr>
            <a:spLocks noGrp="1"/>
          </p:cNvSpPr>
          <p:nvPr/>
        </p:nvSpPr>
        <p:spPr>
          <a:xfrm>
            <a:off x="990600" y="529590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 dirty="0">
                <a:solidFill>
                  <a:srgbClr val="FFFFFF"/>
                </a:solidFill>
              </a:rPr>
              <a:t>Expand document coverage, strengthen orientation handling, and move toward a pilot-ready internal workflow.</a:t>
            </a:r>
          </a:p>
        </p:txBody>
      </p:sp>
      <p:sp>
        <p:nvSpPr>
          <p:cNvPr id="15" name="footer-left-8">
            <a:extLst>
              <a:ext uri="{FF2B5EF4-FFF2-40B4-BE49-F238E27FC236}">
                <a16:creationId xmlns:a16="http://schemas.microsoft.com/office/drawing/2014/main" id="{7C3A7CA0-A6ED-4EE0-90DE-96618CB7D42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16" name="footer-right-8">
            <a:extLst>
              <a:ext uri="{FF2B5EF4-FFF2-40B4-BE49-F238E27FC236}">
                <a16:creationId xmlns:a16="http://schemas.microsoft.com/office/drawing/2014/main" id="{5E99FD0E-D6BD-4FBF-A594-22315FE241D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6925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his internship gave me hands-on product-building experience, not only theory-title">
            <a:extLst>
              <a:ext uri="{FF2B5EF4-FFF2-40B4-BE49-F238E27FC236}">
                <a16:creationId xmlns:a16="http://schemas.microsoft.com/office/drawing/2014/main" id="{AB5D26BA-A1D3-49AE-998B-416F7B4CFED2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B"/>
                </a:solidFill>
              </a:defRPr>
            </a:pPr>
            <a:r>
              <a:rPr sz="2700" b="1" i="0">
                <a:solidFill>
                  <a:srgbClr val="15171B"/>
                </a:solidFill>
              </a:rPr>
              <a:t>This internship gave me hands-on product-building experience, not only theory</a:t>
            </a:r>
          </a:p>
        </p:txBody>
      </p:sp>
      <p:sp>
        <p:nvSpPr>
          <p:cNvPr id="3" name="learned-panel">
            <a:extLst>
              <a:ext uri="{FF2B5EF4-FFF2-40B4-BE49-F238E27FC236}">
                <a16:creationId xmlns:a16="http://schemas.microsoft.com/office/drawing/2014/main" id="{01240113-D2FD-4451-91FA-AAA02303D70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51435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4" name="WHAT I LEARNED-label">
            <a:extLst>
              <a:ext uri="{FF2B5EF4-FFF2-40B4-BE49-F238E27FC236}">
                <a16:creationId xmlns:a16="http://schemas.microsoft.com/office/drawing/2014/main" id="{BCAEC3CB-A51D-40C5-82FB-EE1367485288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E60000"/>
                </a:solidFill>
              </a:defRPr>
            </a:pPr>
            <a:r>
              <a:rPr sz="975" b="1" i="0">
                <a:solidFill>
                  <a:srgbClr val="E60000"/>
                </a:solidFill>
              </a:rPr>
              <a:t>WHAT I LEARNED</a:t>
            </a:r>
          </a:p>
        </p:txBody>
      </p:sp>
      <p:sp>
        <p:nvSpPr>
          <p:cNvPr id="5" name="bullet-dot-0">
            <a:extLst>
              <a:ext uri="{FF2B5EF4-FFF2-40B4-BE49-F238E27FC236}">
                <a16:creationId xmlns:a16="http://schemas.microsoft.com/office/drawing/2014/main" id="{EBB6B226-48D7-4A2B-B154-100751ADBF5B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ullet-text-0">
            <a:extLst>
              <a:ext uri="{FF2B5EF4-FFF2-40B4-BE49-F238E27FC236}">
                <a16:creationId xmlns:a16="http://schemas.microsoft.com/office/drawing/2014/main" id="{5B09A787-2091-4061-9863-D221B60CAB13}"/>
              </a:ext>
            </a:extLst>
          </p:cNvPr>
          <p:cNvSpPr>
            <a:spLocks noGrp="1"/>
          </p:cNvSpPr>
          <p:nvPr/>
        </p:nvSpPr>
        <p:spPr>
          <a:xfrm>
            <a:off x="1257300" y="25908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>
                <a:solidFill>
                  <a:srgbClr val="15171B"/>
                </a:solidFill>
              </a:rPr>
              <a:t>How to turn a business need into a full AI workflow that people can actually use.</a:t>
            </a:r>
          </a:p>
        </p:txBody>
      </p:sp>
      <p:sp>
        <p:nvSpPr>
          <p:cNvPr id="7" name="bullet-dot-1">
            <a:extLst>
              <a:ext uri="{FF2B5EF4-FFF2-40B4-BE49-F238E27FC236}">
                <a16:creationId xmlns:a16="http://schemas.microsoft.com/office/drawing/2014/main" id="{C2204E56-8A66-4669-9618-AA29A3F4EA06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bullet-text-1">
            <a:extLst>
              <a:ext uri="{FF2B5EF4-FFF2-40B4-BE49-F238E27FC236}">
                <a16:creationId xmlns:a16="http://schemas.microsoft.com/office/drawing/2014/main" id="{544AC643-023F-4D0C-9B47-BAA89DCE659D}"/>
              </a:ext>
            </a:extLst>
          </p:cNvPr>
          <p:cNvSpPr>
            <a:spLocks noGrp="1"/>
          </p:cNvSpPr>
          <p:nvPr/>
        </p:nvSpPr>
        <p:spPr>
          <a:xfrm>
            <a:off x="1257300" y="33718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>
                <a:solidFill>
                  <a:srgbClr val="15171B"/>
                </a:solidFill>
              </a:rPr>
              <a:t>How OCR, extraction, validation, storage, and analytics connect in one product.</a:t>
            </a:r>
          </a:p>
        </p:txBody>
      </p:sp>
      <p:sp>
        <p:nvSpPr>
          <p:cNvPr id="9" name="bullet-dot-2">
            <a:extLst>
              <a:ext uri="{FF2B5EF4-FFF2-40B4-BE49-F238E27FC236}">
                <a16:creationId xmlns:a16="http://schemas.microsoft.com/office/drawing/2014/main" id="{33269DDA-0497-4BAF-BCE1-43D8018CA453}"/>
              </a:ext>
            </a:extLst>
          </p:cNvPr>
          <p:cNvSpPr>
            <a:spLocks noGrp="1"/>
          </p:cNvSpPr>
          <p:nvPr/>
        </p:nvSpPr>
        <p:spPr>
          <a:xfrm>
            <a:off x="990600" y="4229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bullet-text-2">
            <a:extLst>
              <a:ext uri="{FF2B5EF4-FFF2-40B4-BE49-F238E27FC236}">
                <a16:creationId xmlns:a16="http://schemas.microsoft.com/office/drawing/2014/main" id="{7DB85BE5-A2B4-4FAD-AE2E-D3F4287AE53D}"/>
              </a:ext>
            </a:extLst>
          </p:cNvPr>
          <p:cNvSpPr>
            <a:spLocks noGrp="1"/>
          </p:cNvSpPr>
          <p:nvPr/>
        </p:nvSpPr>
        <p:spPr>
          <a:xfrm>
            <a:off x="1257300" y="41529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>
                <a:solidFill>
                  <a:srgbClr val="15171B"/>
                </a:solidFill>
              </a:rPr>
              <a:t>How to make AI outputs safer by combining them with deterministic software rules.</a:t>
            </a:r>
          </a:p>
        </p:txBody>
      </p:sp>
      <p:sp>
        <p:nvSpPr>
          <p:cNvPr id="11" name="gained-panel">
            <a:extLst>
              <a:ext uri="{FF2B5EF4-FFF2-40B4-BE49-F238E27FC236}">
                <a16:creationId xmlns:a16="http://schemas.microsoft.com/office/drawing/2014/main" id="{48CF7FE9-D295-4572-8D25-CB86B52F2EDC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5143500" cy="3657600"/>
          </a:xfrm>
          <a:prstGeom prst="roundRect">
            <a:avLst>
              <a:gd name="adj" fmla="val 6250"/>
            </a:avLst>
          </a:prstGeom>
          <a:solidFill>
            <a:srgbClr val="17191D"/>
          </a:solidFill>
          <a:ln w="9525">
            <a:solidFill>
              <a:srgbClr val="1719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WHAT I GAINED-label">
            <a:extLst>
              <a:ext uri="{FF2B5EF4-FFF2-40B4-BE49-F238E27FC236}">
                <a16:creationId xmlns:a16="http://schemas.microsoft.com/office/drawing/2014/main" id="{97023764-E556-44B3-BB86-286909153E8F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E60000"/>
                </a:solidFill>
              </a:defRPr>
            </a:pPr>
            <a:r>
              <a:rPr sz="975" b="1" i="0">
                <a:solidFill>
                  <a:srgbClr val="E60000"/>
                </a:solidFill>
              </a:rPr>
              <a:t>WHAT I GAINED</a:t>
            </a:r>
          </a:p>
        </p:txBody>
      </p:sp>
      <p:sp>
        <p:nvSpPr>
          <p:cNvPr id="13" name="bullet-dot-0">
            <a:extLst>
              <a:ext uri="{FF2B5EF4-FFF2-40B4-BE49-F238E27FC236}">
                <a16:creationId xmlns:a16="http://schemas.microsoft.com/office/drawing/2014/main" id="{52746202-57B2-47D9-B99C-250098459669}"/>
              </a:ext>
            </a:extLst>
          </p:cNvPr>
          <p:cNvSpPr>
            <a:spLocks noGrp="1"/>
          </p:cNvSpPr>
          <p:nvPr/>
        </p:nvSpPr>
        <p:spPr>
          <a:xfrm>
            <a:off x="6667500" y="262010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bullet-text-0">
            <a:extLst>
              <a:ext uri="{FF2B5EF4-FFF2-40B4-BE49-F238E27FC236}">
                <a16:creationId xmlns:a16="http://schemas.microsoft.com/office/drawing/2014/main" id="{12F34F06-F42A-4D03-BFCD-6DCBC53F8F29}"/>
              </a:ext>
            </a:extLst>
          </p:cNvPr>
          <p:cNvSpPr>
            <a:spLocks noGrp="1"/>
          </p:cNvSpPr>
          <p:nvPr/>
        </p:nvSpPr>
        <p:spPr>
          <a:xfrm>
            <a:off x="6897565" y="2444993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Hands-on experience building real software end to end, not only studying concepts.</a:t>
            </a:r>
          </a:p>
        </p:txBody>
      </p:sp>
      <p:sp>
        <p:nvSpPr>
          <p:cNvPr id="15" name="bullet-dot-1">
            <a:extLst>
              <a:ext uri="{FF2B5EF4-FFF2-40B4-BE49-F238E27FC236}">
                <a16:creationId xmlns:a16="http://schemas.microsoft.com/office/drawing/2014/main" id="{9EF3ABF0-C252-4F87-A9C4-483FD70F2EA4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bullet-text-1">
            <a:extLst>
              <a:ext uri="{FF2B5EF4-FFF2-40B4-BE49-F238E27FC236}">
                <a16:creationId xmlns:a16="http://schemas.microsoft.com/office/drawing/2014/main" id="{393353F5-012C-4FEA-A2B4-55A21B0DE209}"/>
              </a:ext>
            </a:extLst>
          </p:cNvPr>
          <p:cNvSpPr>
            <a:spLocks noGrp="1"/>
          </p:cNvSpPr>
          <p:nvPr/>
        </p:nvSpPr>
        <p:spPr>
          <a:xfrm>
            <a:off x="6897565" y="3341808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Practical growth from the Vodafone summer materials: notebooks, datasets, exercises, presentations, and final project requirements.</a:t>
            </a:r>
          </a:p>
        </p:txBody>
      </p:sp>
      <p:sp>
        <p:nvSpPr>
          <p:cNvPr id="17" name="bullet-dot-2">
            <a:extLst>
              <a:ext uri="{FF2B5EF4-FFF2-40B4-BE49-F238E27FC236}">
                <a16:creationId xmlns:a16="http://schemas.microsoft.com/office/drawing/2014/main" id="{B7F1B809-C93C-4F88-883D-5099FD02F112}"/>
              </a:ext>
            </a:extLst>
          </p:cNvPr>
          <p:cNvSpPr>
            <a:spLocks noGrp="1"/>
          </p:cNvSpPr>
          <p:nvPr/>
        </p:nvSpPr>
        <p:spPr>
          <a:xfrm>
            <a:off x="6667500" y="453976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0">
            <a:solidFill>
              <a:srgbClr val="E6000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18" name="bullet-text-2">
            <a:extLst>
              <a:ext uri="{FF2B5EF4-FFF2-40B4-BE49-F238E27FC236}">
                <a16:creationId xmlns:a16="http://schemas.microsoft.com/office/drawing/2014/main" id="{A55C63FB-4CDD-44B4-AD25-35E8721E1A92}"/>
              </a:ext>
            </a:extLst>
          </p:cNvPr>
          <p:cNvSpPr>
            <a:spLocks noGrp="1"/>
          </p:cNvSpPr>
          <p:nvPr/>
        </p:nvSpPr>
        <p:spPr>
          <a:xfrm>
            <a:off x="6934200" y="446356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5171B"/>
                </a:solidFill>
              </a:defRPr>
            </a:pPr>
            <a:r>
              <a:rPr sz="1800" b="0" i="0" dirty="0">
                <a:solidFill>
                  <a:schemeClr val="bg1"/>
                </a:solidFill>
              </a:rPr>
              <a:t>More confidence in Python, data work, machine-learning workflows, and presenting business value clearly.</a:t>
            </a:r>
          </a:p>
        </p:txBody>
      </p:sp>
      <p:sp>
        <p:nvSpPr>
          <p:cNvPr id="19" name="qa-close">
            <a:extLst>
              <a:ext uri="{FF2B5EF4-FFF2-40B4-BE49-F238E27FC236}">
                <a16:creationId xmlns:a16="http://schemas.microsoft.com/office/drawing/2014/main" id="{D111F3A9-9980-460D-A4F4-722D18AE0E72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5171B"/>
                </a:solidFill>
              </a:defRPr>
            </a:pPr>
            <a:endParaRPr sz="2400" b="1" i="0" dirty="0">
              <a:solidFill>
                <a:srgbClr val="15171B"/>
              </a:solidFill>
            </a:endParaRPr>
          </a:p>
        </p:txBody>
      </p:sp>
      <p:sp>
        <p:nvSpPr>
          <p:cNvPr id="20" name="footer-left-9">
            <a:extLst>
              <a:ext uri="{FF2B5EF4-FFF2-40B4-BE49-F238E27FC236}">
                <a16:creationId xmlns:a16="http://schemas.microsoft.com/office/drawing/2014/main" id="{0AFBEAF6-0DA6-4E6F-B056-C218923F2F9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777D87"/>
                </a:solidFill>
              </a:defRPr>
            </a:pPr>
            <a:r>
              <a:rPr lang="en-GB" sz="975" b="0" i="0" dirty="0" err="1">
                <a:solidFill>
                  <a:srgbClr val="777D87"/>
                </a:solidFill>
              </a:rPr>
              <a:t>DocuAgent</a:t>
            </a:r>
            <a:r>
              <a:rPr lang="en-GB" sz="975" b="0" i="0" dirty="0">
                <a:solidFill>
                  <a:srgbClr val="777D87"/>
                </a:solidFill>
              </a:rPr>
              <a:t> | Vodafone Egypt AI Internship</a:t>
            </a:r>
          </a:p>
        </p:txBody>
      </p:sp>
      <p:sp>
        <p:nvSpPr>
          <p:cNvPr id="21" name="footer-right-9">
            <a:extLst>
              <a:ext uri="{FF2B5EF4-FFF2-40B4-BE49-F238E27FC236}">
                <a16:creationId xmlns:a16="http://schemas.microsoft.com/office/drawing/2014/main" id="{E0DCE025-6B42-406C-B202-A5DA6E18604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777D87"/>
                </a:solidFill>
              </a:defRPr>
            </a:pPr>
            <a:r>
              <a:rPr sz="975" b="0" i="0">
                <a:solidFill>
                  <a:srgbClr val="777D87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9908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610</Words>
  <Application>Microsoft Office PowerPoint</Application>
  <DocSecurity>0</DocSecurity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 Marwan</cp:lastModifiedBy>
  <cp:revision>2</cp:revision>
  <dcterms:created xsi:type="dcterms:W3CDTF">2026-08-11T17:27:36Z</dcterms:created>
  <dcterms:modified xsi:type="dcterms:W3CDTF">2026-08-11T21:35:06Z</dcterms:modified>
</cp:coreProperties>
</file>